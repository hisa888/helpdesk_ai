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704" autoAdjust="0"/>
    <p:restoredTop sz="94660"/>
  </p:normalViewPr>
  <p:slideViewPr>
    <p:cSldViewPr snapToGrid="0" snapToObjects="1">
      <p:cViewPr varScale="1">
        <p:scale>
          <a:sx n="82" d="100"/>
          <a:sy n="82" d="100"/>
        </p:scale>
        <p:origin x="547"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5/4/2026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5/4/2026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5/4/2026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532"/>
        </a:solidFill>
        <a:effectLst/>
      </p:bgPr>
    </p:bg>
    <p:spTree>
      <p:nvGrpSpPr>
        <p:cNvPr id="1" name=""/>
        <p:cNvGrpSpPr/>
        <p:nvPr/>
      </p:nvGrpSpPr>
      <p:grpSpPr>
        <a:xfrm>
          <a:off x="0" y="0"/>
          <a:ext cx="0" cy="0"/>
          <a:chOff x="0" y="0"/>
          <a:chExt cx="0" cy="0"/>
        </a:xfrm>
      </p:grpSpPr>
      <p:sp>
        <p:nvSpPr>
          <p:cNvPr id="2" name="Rounded Rectangle 1"/>
          <p:cNvSpPr/>
          <p:nvPr/>
        </p:nvSpPr>
        <p:spPr>
          <a:xfrm>
            <a:off x="4617720" y="777239"/>
            <a:ext cx="7040880" cy="5371633"/>
          </a:xfrm>
          <a:prstGeom prst="round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868680"/>
            <a:ext cx="3291840" cy="274320"/>
          </a:xfrm>
          <a:prstGeom prst="rect">
            <a:avLst/>
          </a:prstGeom>
          <a:noFill/>
        </p:spPr>
        <p:txBody>
          <a:bodyPr wrap="none">
            <a:spAutoFit/>
          </a:bodyPr>
          <a:lstStyle/>
          <a:p>
            <a:r>
              <a:rPr sz="1600">
                <a:solidFill>
                  <a:srgbClr val="93C5FD"/>
                </a:solidFill>
                <a:latin typeface="Yu Gothic"/>
              </a:rPr>
              <a:t>検索精度向上 / 質問方法・候補表示</a:t>
            </a:r>
          </a:p>
        </p:txBody>
      </p:sp>
      <p:sp>
        <p:nvSpPr>
          <p:cNvPr id="4" name="TextBox 3"/>
          <p:cNvSpPr txBox="1"/>
          <p:nvPr/>
        </p:nvSpPr>
        <p:spPr>
          <a:xfrm>
            <a:off x="640080" y="1325880"/>
            <a:ext cx="3749039" cy="1554480"/>
          </a:xfrm>
          <a:prstGeom prst="rect">
            <a:avLst/>
          </a:prstGeom>
          <a:noFill/>
        </p:spPr>
        <p:txBody>
          <a:bodyPr wrap="square">
            <a:spAutoFit/>
          </a:bodyPr>
          <a:lstStyle/>
          <a:p>
            <a:r>
              <a:rPr sz="2800" b="1" dirty="0" err="1">
                <a:solidFill>
                  <a:srgbClr val="FFFFFF"/>
                </a:solidFill>
                <a:latin typeface="Yu Gothic"/>
              </a:rPr>
              <a:t>情シス問い合わせAI</a:t>
            </a:r>
            <a:r>
              <a:rPr sz="2800" b="1" dirty="0">
                <a:solidFill>
                  <a:srgbClr val="FFFFFF"/>
                </a:solidFill>
                <a:latin typeface="Yu Gothic"/>
              </a:rPr>
              <a:t>
</a:t>
            </a:r>
            <a:r>
              <a:rPr sz="2800" b="1" dirty="0" err="1">
                <a:solidFill>
                  <a:srgbClr val="FFFFFF"/>
                </a:solidFill>
                <a:latin typeface="Yu Gothic"/>
              </a:rPr>
              <a:t>操作ガイド</a:t>
            </a:r>
            <a:endParaRPr sz="2800" b="1" dirty="0">
              <a:solidFill>
                <a:srgbClr val="FFFFFF"/>
              </a:solidFill>
              <a:latin typeface="Yu Gothic"/>
            </a:endParaRPr>
          </a:p>
        </p:txBody>
      </p:sp>
      <p:sp>
        <p:nvSpPr>
          <p:cNvPr id="5" name="TextBox 4"/>
          <p:cNvSpPr txBox="1"/>
          <p:nvPr/>
        </p:nvSpPr>
        <p:spPr>
          <a:xfrm>
            <a:off x="640080" y="2926080"/>
            <a:ext cx="3566160" cy="914400"/>
          </a:xfrm>
          <a:prstGeom prst="rect">
            <a:avLst/>
          </a:prstGeom>
          <a:noFill/>
        </p:spPr>
        <p:txBody>
          <a:bodyPr wrap="square">
            <a:spAutoFit/>
          </a:bodyPr>
          <a:lstStyle/>
          <a:p>
            <a:r>
              <a:rPr sz="1600" dirty="0" err="1">
                <a:solidFill>
                  <a:srgbClr val="E6EEFA"/>
                </a:solidFill>
                <a:latin typeface="Yu Gothic"/>
              </a:rPr>
              <a:t>ユーザーが画面を見ながら</a:t>
            </a:r>
            <a:r>
              <a:rPr sz="1600" dirty="0">
                <a:solidFill>
                  <a:srgbClr val="E6EEFA"/>
                </a:solidFill>
                <a:latin typeface="Yu Gothic"/>
              </a:rPr>
              <a:t>、
</a:t>
            </a:r>
            <a:r>
              <a:rPr sz="1600" dirty="0" err="1">
                <a:solidFill>
                  <a:srgbClr val="E6EEFA"/>
                </a:solidFill>
                <a:latin typeface="Yu Gothic"/>
              </a:rPr>
              <a:t>質問入力</a:t>
            </a:r>
            <a:r>
              <a:rPr sz="1600" dirty="0">
                <a:solidFill>
                  <a:srgbClr val="E6EEFA"/>
                </a:solidFill>
                <a:latin typeface="Yu Gothic"/>
              </a:rPr>
              <a:t> → </a:t>
            </a:r>
            <a:r>
              <a:rPr sz="1600" dirty="0" err="1">
                <a:solidFill>
                  <a:srgbClr val="E6EEFA"/>
                </a:solidFill>
                <a:latin typeface="Yu Gothic"/>
              </a:rPr>
              <a:t>回答確認</a:t>
            </a:r>
            <a:r>
              <a:rPr sz="1600" dirty="0">
                <a:solidFill>
                  <a:srgbClr val="E6EEFA"/>
                </a:solidFill>
                <a:latin typeface="Yu Gothic"/>
              </a:rPr>
              <a:t> → </a:t>
            </a:r>
            <a:r>
              <a:rPr sz="1600" dirty="0" err="1">
                <a:solidFill>
                  <a:srgbClr val="E6EEFA"/>
                </a:solidFill>
                <a:latin typeface="Yu Gothic"/>
              </a:rPr>
              <a:t>候補選択</a:t>
            </a:r>
            <a:r>
              <a:rPr sz="1600" dirty="0">
                <a:solidFill>
                  <a:srgbClr val="E6EEFA"/>
                </a:solidFill>
                <a:latin typeface="Yu Gothic"/>
              </a:rPr>
              <a:t> → </a:t>
            </a:r>
            <a:r>
              <a:rPr sz="1600" dirty="0" err="1">
                <a:solidFill>
                  <a:srgbClr val="E6EEFA"/>
                </a:solidFill>
                <a:latin typeface="Yu Gothic"/>
              </a:rPr>
              <a:t>根拠確認</a:t>
            </a:r>
            <a:r>
              <a:rPr sz="1600" dirty="0">
                <a:solidFill>
                  <a:srgbClr val="E6EEFA"/>
                </a:solidFill>
                <a:latin typeface="Yu Gothic"/>
              </a:rPr>
              <a:t>
</a:t>
            </a:r>
            <a:r>
              <a:rPr sz="1600" dirty="0" err="1">
                <a:solidFill>
                  <a:srgbClr val="E6EEFA"/>
                </a:solidFill>
                <a:latin typeface="Yu Gothic"/>
              </a:rPr>
              <a:t>の流れを理解できる資料です</a:t>
            </a:r>
            <a:r>
              <a:rPr sz="1600" dirty="0">
                <a:solidFill>
                  <a:srgbClr val="E6EEFA"/>
                </a:solidFill>
                <a:latin typeface="Yu Gothic"/>
              </a:rPr>
              <a:t>。</a:t>
            </a:r>
          </a:p>
        </p:txBody>
      </p:sp>
      <p:sp>
        <p:nvSpPr>
          <p:cNvPr id="6" name="Rounded Rectangle 5"/>
          <p:cNvSpPr/>
          <p:nvPr/>
        </p:nvSpPr>
        <p:spPr>
          <a:xfrm>
            <a:off x="658368" y="4617720"/>
            <a:ext cx="1207008" cy="34747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FAQ検索</a:t>
            </a:r>
          </a:p>
        </p:txBody>
      </p:sp>
      <p:sp>
        <p:nvSpPr>
          <p:cNvPr id="7" name="Rounded Rectangle 6"/>
          <p:cNvSpPr/>
          <p:nvPr/>
        </p:nvSpPr>
        <p:spPr>
          <a:xfrm>
            <a:off x="2075688" y="4617720"/>
            <a:ext cx="1207008" cy="347472"/>
          </a:xfrm>
          <a:prstGeom prst="round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候補表示</a:t>
            </a:r>
          </a:p>
        </p:txBody>
      </p:sp>
      <p:sp>
        <p:nvSpPr>
          <p:cNvPr id="8" name="Rounded Rectangle 7"/>
          <p:cNvSpPr/>
          <p:nvPr/>
        </p:nvSpPr>
        <p:spPr>
          <a:xfrm>
            <a:off x="658368" y="5120640"/>
            <a:ext cx="1207008" cy="347472"/>
          </a:xfrm>
          <a:prstGeom prst="round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根拠確認</a:t>
            </a:r>
          </a:p>
        </p:txBody>
      </p:sp>
      <p:sp>
        <p:nvSpPr>
          <p:cNvPr id="9" name="Rounded Rectangle 8"/>
          <p:cNvSpPr/>
          <p:nvPr/>
        </p:nvSpPr>
        <p:spPr>
          <a:xfrm>
            <a:off x="2075688" y="5120640"/>
            <a:ext cx="1207008" cy="347472"/>
          </a:xfrm>
          <a:prstGeom prst="roundRect">
            <a:avLst/>
          </a:prstGeom>
          <a:solidFill>
            <a:srgbClr val="0891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FFFFFF"/>
                </a:solidFill>
                <a:latin typeface="Yu Gothic"/>
              </a:rPr>
              <a:t>再入力のコツ</a:t>
            </a:r>
          </a:p>
        </p:txBody>
      </p:sp>
      <p:pic>
        <p:nvPicPr>
          <p:cNvPr id="10" name="Picture 9" descr="62427858-cab5-5b5f-9289-3b5828ac14a3.png"/>
          <p:cNvPicPr>
            <a:picLocks noChangeAspect="1"/>
          </p:cNvPicPr>
          <p:nvPr/>
        </p:nvPicPr>
        <p:blipFill>
          <a:blip r:embed="rId2"/>
          <a:stretch>
            <a:fillRect/>
          </a:stretch>
        </p:blipFill>
        <p:spPr>
          <a:xfrm>
            <a:off x="4800600" y="1883267"/>
            <a:ext cx="6583680" cy="2725705"/>
          </a:xfrm>
          <a:prstGeom prst="rect">
            <a:avLst/>
          </a:prstGeom>
        </p:spPr>
      </p:pic>
      <p:sp>
        <p:nvSpPr>
          <p:cNvPr id="11" name="TextBox 10"/>
          <p:cNvSpPr txBox="1"/>
          <p:nvPr/>
        </p:nvSpPr>
        <p:spPr>
          <a:xfrm>
            <a:off x="4846320" y="5623560"/>
            <a:ext cx="6400800" cy="228600"/>
          </a:xfrm>
          <a:prstGeom prst="rect">
            <a:avLst/>
          </a:prstGeom>
          <a:noFill/>
        </p:spPr>
        <p:txBody>
          <a:bodyPr wrap="none">
            <a:spAutoFit/>
          </a:bodyPr>
          <a:lstStyle/>
          <a:p>
            <a:r>
              <a:rPr sz="1100" dirty="0" err="1">
                <a:solidFill>
                  <a:srgbClr val="CBD5E1"/>
                </a:solidFill>
                <a:latin typeface="Yu Gothic"/>
              </a:rPr>
              <a:t>初期画面：社内IT問い合わせを入力するメイン画面</a:t>
            </a:r>
            <a:endParaRPr sz="1100" dirty="0">
              <a:solidFill>
                <a:srgbClr val="CBD5E1"/>
              </a:solidFill>
              <a:latin typeface="Yu Gothic"/>
            </a:endParaRPr>
          </a:p>
        </p:txBody>
      </p:sp>
      <p:sp>
        <p:nvSpPr>
          <p:cNvPr id="12" name="TextBox 11"/>
          <p:cNvSpPr txBox="1"/>
          <p:nvPr/>
        </p:nvSpPr>
        <p:spPr>
          <a:xfrm>
            <a:off x="11292840" y="6355080"/>
            <a:ext cx="365760" cy="182880"/>
          </a:xfrm>
          <a:prstGeom prst="rect">
            <a:avLst/>
          </a:prstGeom>
          <a:noFill/>
        </p:spPr>
        <p:txBody>
          <a:bodyPr wrap="none">
            <a:spAutoFit/>
          </a:bodyPr>
          <a:lstStyle/>
          <a:p>
            <a:pPr algn="r"/>
            <a:r>
              <a:rPr sz="1000">
                <a:solidFill>
                  <a:srgbClr val="94A3B8"/>
                </a:solidFill>
                <a:latin typeface="Arial"/>
              </a:rPr>
              <a:t>01</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8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 name="TextBox 2"/>
          <p:cNvSpPr txBox="1"/>
          <p:nvPr/>
        </p:nvSpPr>
        <p:spPr>
          <a:xfrm>
            <a:off x="502920" y="109728"/>
            <a:ext cx="3518912" cy="492443"/>
          </a:xfrm>
          <a:prstGeom prst="rect">
            <a:avLst/>
          </a:prstGeom>
          <a:noFill/>
        </p:spPr>
        <p:txBody>
          <a:bodyPr wrap="none">
            <a:spAutoFit/>
          </a:bodyPr>
          <a:lstStyle/>
          <a:p>
            <a:r>
              <a:rPr sz="2600" b="1">
                <a:solidFill>
                  <a:srgbClr val="FFFFFF"/>
                </a:solidFill>
                <a:latin typeface="Yu Gothic"/>
              </a:rPr>
              <a:t>初期画面で分かること</a:t>
            </a:r>
          </a:p>
        </p:txBody>
      </p:sp>
      <p:sp>
        <p:nvSpPr>
          <p:cNvPr id="4" name="TextBox 3"/>
          <p:cNvSpPr txBox="1"/>
          <p:nvPr/>
        </p:nvSpPr>
        <p:spPr>
          <a:xfrm>
            <a:off x="530352" y="466718"/>
            <a:ext cx="2752677" cy="238527"/>
          </a:xfrm>
          <a:prstGeom prst="rect">
            <a:avLst/>
          </a:prstGeom>
          <a:noFill/>
        </p:spPr>
        <p:txBody>
          <a:bodyPr wrap="none">
            <a:spAutoFit/>
          </a:bodyPr>
          <a:lstStyle/>
          <a:p>
            <a:r>
              <a:rPr sz="950" b="1" dirty="0" err="1">
                <a:solidFill>
                  <a:srgbClr val="C8D7EB"/>
                </a:solidFill>
                <a:latin typeface="Yu Gothic"/>
              </a:rPr>
              <a:t>情シス問い合わせAI</a:t>
            </a:r>
            <a:r>
              <a:rPr sz="950" b="1" dirty="0">
                <a:solidFill>
                  <a:srgbClr val="C8D7EB"/>
                </a:solidFill>
                <a:latin typeface="Yu Gothic"/>
              </a:rPr>
              <a:t> / </a:t>
            </a:r>
            <a:r>
              <a:rPr sz="950" b="1" dirty="0" err="1">
                <a:solidFill>
                  <a:srgbClr val="C8D7EB"/>
                </a:solidFill>
                <a:latin typeface="Yu Gothic"/>
              </a:rPr>
              <a:t>ユーザー向け操作ガイド</a:t>
            </a:r>
            <a:endParaRPr sz="950" b="1" dirty="0">
              <a:solidFill>
                <a:srgbClr val="C8D7EB"/>
              </a:solidFill>
              <a:latin typeface="Yu Gothic"/>
            </a:endParaRPr>
          </a:p>
        </p:txBody>
      </p:sp>
      <p:sp>
        <p:nvSpPr>
          <p:cNvPr id="5" name="Rounded Rectangle 4"/>
          <p:cNvSpPr/>
          <p:nvPr/>
        </p:nvSpPr>
        <p:spPr>
          <a:xfrm>
            <a:off x="11109960" y="128016"/>
            <a:ext cx="68580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02</a:t>
            </a:r>
          </a:p>
        </p:txBody>
      </p:sp>
      <p:sp>
        <p:nvSpPr>
          <p:cNvPr id="7" name="Rounded Rectangle 6"/>
          <p:cNvSpPr/>
          <p:nvPr/>
        </p:nvSpPr>
        <p:spPr>
          <a:xfrm>
            <a:off x="6016752" y="1143000"/>
            <a:ext cx="5779008" cy="5084064"/>
          </a:xfrm>
          <a:prstGeom prst="roundRect">
            <a:avLst/>
          </a:prstGeom>
          <a:noFill/>
          <a:ln w="15240">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pic>
        <p:nvPicPr>
          <p:cNvPr id="6" name="Picture 5" descr="62427858-cab5-5b5f-9289-3b5828ac14a3.png"/>
          <p:cNvPicPr>
            <a:picLocks noChangeAspect="1"/>
          </p:cNvPicPr>
          <p:nvPr/>
        </p:nvPicPr>
        <p:blipFill>
          <a:blip r:embed="rId2"/>
          <a:stretch>
            <a:fillRect/>
          </a:stretch>
        </p:blipFill>
        <p:spPr>
          <a:xfrm>
            <a:off x="6126480" y="2260965"/>
            <a:ext cx="5532120" cy="2290349"/>
          </a:xfrm>
          <a:prstGeom prst="rect">
            <a:avLst/>
          </a:prstGeom>
        </p:spPr>
      </p:pic>
      <p:sp>
        <p:nvSpPr>
          <p:cNvPr id="8" name="Rounded Rectangle 7"/>
          <p:cNvSpPr/>
          <p:nvPr/>
        </p:nvSpPr>
        <p:spPr>
          <a:xfrm>
            <a:off x="502920" y="1097280"/>
            <a:ext cx="5212080" cy="4663440"/>
          </a:xfrm>
          <a:prstGeom prst="roundRect">
            <a:avLst/>
          </a:prstGeom>
          <a:solidFill>
            <a:srgbClr val="FAFCFF"/>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9" name="TextBox 8"/>
          <p:cNvSpPr txBox="1"/>
          <p:nvPr/>
        </p:nvSpPr>
        <p:spPr>
          <a:xfrm>
            <a:off x="667512" y="1188720"/>
            <a:ext cx="1800493" cy="369332"/>
          </a:xfrm>
          <a:prstGeom prst="rect">
            <a:avLst/>
          </a:prstGeom>
          <a:noFill/>
        </p:spPr>
        <p:txBody>
          <a:bodyPr wrap="none">
            <a:spAutoFit/>
          </a:bodyPr>
          <a:lstStyle/>
          <a:p>
            <a:r>
              <a:rPr sz="1800" b="1" dirty="0" err="1">
                <a:solidFill>
                  <a:srgbClr val="1F2937"/>
                </a:solidFill>
                <a:latin typeface="Yu Gothic"/>
              </a:rPr>
              <a:t>この画面の見方</a:t>
            </a:r>
            <a:endParaRPr sz="1800" b="1" dirty="0">
              <a:solidFill>
                <a:srgbClr val="1F2937"/>
              </a:solidFill>
              <a:latin typeface="Yu Gothic"/>
            </a:endParaRPr>
          </a:p>
        </p:txBody>
      </p:sp>
      <p:sp>
        <p:nvSpPr>
          <p:cNvPr id="10" name="Rectangle 9"/>
          <p:cNvSpPr/>
          <p:nvPr/>
        </p:nvSpPr>
        <p:spPr>
          <a:xfrm>
            <a:off x="667512" y="1508760"/>
            <a:ext cx="1711794" cy="45719"/>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1" name="TextBox 10"/>
          <p:cNvSpPr txBox="1"/>
          <p:nvPr/>
        </p:nvSpPr>
        <p:spPr>
          <a:xfrm>
            <a:off x="667512" y="1627632"/>
            <a:ext cx="4882896" cy="2131353"/>
          </a:xfrm>
          <a:prstGeom prst="rect">
            <a:avLst/>
          </a:prstGeom>
          <a:noFill/>
        </p:spPr>
        <p:txBody>
          <a:bodyPr wrap="square">
            <a:spAutoFit/>
          </a:bodyPr>
          <a:lstStyle/>
          <a:p>
            <a:pPr>
              <a:spcAft>
                <a:spcPts val="500"/>
              </a:spcAft>
            </a:pPr>
            <a:r>
              <a:rPr sz="1500" b="1" dirty="0" err="1">
                <a:solidFill>
                  <a:srgbClr val="1F2937"/>
                </a:solidFill>
                <a:latin typeface="Yu Gothic"/>
              </a:rPr>
              <a:t>左サイドバーで「このAIでできること」と「使い方」を確認できます</a:t>
            </a:r>
            <a:r>
              <a:rPr sz="1500" b="1" dirty="0">
                <a:solidFill>
                  <a:srgbClr val="1F2937"/>
                </a:solidFill>
                <a:latin typeface="Yu Gothic"/>
              </a:rPr>
              <a:t>。</a:t>
            </a:r>
          </a:p>
          <a:p>
            <a:pPr>
              <a:spcAft>
                <a:spcPts val="500"/>
              </a:spcAft>
            </a:pPr>
            <a:r>
              <a:rPr sz="1500" b="1" dirty="0" err="1">
                <a:solidFill>
                  <a:srgbClr val="1F2937"/>
                </a:solidFill>
                <a:latin typeface="Yu Gothic"/>
              </a:rPr>
              <a:t>中央の入力欄に、社内ITに関する質問を自然な言葉で入力します</a:t>
            </a:r>
            <a:r>
              <a:rPr sz="1500" b="1" dirty="0">
                <a:solidFill>
                  <a:srgbClr val="1F2937"/>
                </a:solidFill>
                <a:latin typeface="Yu Gothic"/>
              </a:rPr>
              <a:t>。</a:t>
            </a:r>
          </a:p>
          <a:p>
            <a:pPr>
              <a:spcAft>
                <a:spcPts val="500"/>
              </a:spcAft>
            </a:pPr>
            <a:r>
              <a:rPr sz="1500" b="1" dirty="0" err="1">
                <a:solidFill>
                  <a:srgbClr val="1F2937"/>
                </a:solidFill>
                <a:latin typeface="Yu Gothic"/>
              </a:rPr>
              <a:t>FAQと社内ドキュメントを検索し、最も近い回答または候補を表示します</a:t>
            </a:r>
            <a:r>
              <a:rPr sz="1500" b="1" dirty="0">
                <a:solidFill>
                  <a:srgbClr val="1F2937"/>
                </a:solidFill>
                <a:latin typeface="Yu Gothic"/>
              </a:rPr>
              <a:t>。</a:t>
            </a:r>
          </a:p>
          <a:p>
            <a:pPr>
              <a:spcAft>
                <a:spcPts val="500"/>
              </a:spcAft>
            </a:pPr>
            <a:r>
              <a:rPr sz="1500" b="1" dirty="0" err="1">
                <a:solidFill>
                  <a:srgbClr val="1F2937"/>
                </a:solidFill>
                <a:latin typeface="Yu Gothic"/>
              </a:rPr>
              <a:t>入力欄は画面下部に固定されているため、続けて質問しやすい構成です</a:t>
            </a:r>
            <a:r>
              <a:rPr sz="1500" b="1" dirty="0">
                <a:solidFill>
                  <a:srgbClr val="1F2937"/>
                </a:solidFill>
                <a:latin typeface="Yu Gothic"/>
              </a:rPr>
              <a:t>。</a:t>
            </a:r>
          </a:p>
        </p:txBody>
      </p:sp>
      <p:sp>
        <p:nvSpPr>
          <p:cNvPr id="12" name="Rounded Rectangle 11"/>
          <p:cNvSpPr/>
          <p:nvPr/>
        </p:nvSpPr>
        <p:spPr>
          <a:xfrm>
            <a:off x="640080" y="5257800"/>
            <a:ext cx="5074920" cy="969264"/>
          </a:xfrm>
          <a:prstGeom prst="roundRect">
            <a:avLst/>
          </a:prstGeom>
          <a:solidFill>
            <a:srgbClr val="ECFDF5"/>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3" name="TextBox 12"/>
          <p:cNvSpPr txBox="1"/>
          <p:nvPr/>
        </p:nvSpPr>
        <p:spPr>
          <a:xfrm>
            <a:off x="804672" y="5367528"/>
            <a:ext cx="4608576" cy="795089"/>
          </a:xfrm>
          <a:prstGeom prst="rect">
            <a:avLst/>
          </a:prstGeom>
          <a:noFill/>
        </p:spPr>
        <p:txBody>
          <a:bodyPr wrap="square">
            <a:spAutoFit/>
          </a:bodyPr>
          <a:lstStyle/>
          <a:p>
            <a:r>
              <a:rPr sz="1600" b="1" dirty="0" err="1">
                <a:solidFill>
                  <a:srgbClr val="1F2937"/>
                </a:solidFill>
                <a:latin typeface="Yu Gothic"/>
              </a:rPr>
              <a:t>使い始めのポイント</a:t>
            </a:r>
            <a:endParaRPr sz="1600" b="1" dirty="0">
              <a:solidFill>
                <a:srgbClr val="1F2937"/>
              </a:solidFill>
              <a:latin typeface="Yu Gothic"/>
            </a:endParaRPr>
          </a:p>
          <a:p>
            <a:pPr>
              <a:spcBef>
                <a:spcPts val="200"/>
              </a:spcBef>
              <a:spcAft>
                <a:spcPts val="400"/>
              </a:spcAft>
            </a:pPr>
            <a:r>
              <a:rPr sz="1400" b="1" dirty="0">
                <a:solidFill>
                  <a:srgbClr val="1F2937"/>
                </a:solidFill>
                <a:latin typeface="Yu Gothic"/>
              </a:rPr>
              <a:t>「Wi‑</a:t>
            </a:r>
            <a:r>
              <a:rPr sz="1400" b="1" dirty="0" err="1">
                <a:solidFill>
                  <a:srgbClr val="1F2937"/>
                </a:solidFill>
                <a:latin typeface="Yu Gothic"/>
              </a:rPr>
              <a:t>Fiがつながらない</a:t>
            </a:r>
            <a:r>
              <a:rPr sz="1400" b="1" dirty="0">
                <a:solidFill>
                  <a:srgbClr val="1F2937"/>
                </a:solidFill>
                <a:latin typeface="Yu Gothic"/>
              </a:rPr>
              <a:t>」「</a:t>
            </a:r>
            <a:r>
              <a:rPr sz="1400" b="1" dirty="0" err="1">
                <a:solidFill>
                  <a:srgbClr val="1F2937"/>
                </a:solidFill>
                <a:latin typeface="Yu Gothic"/>
              </a:rPr>
              <a:t>PCが起動しない」など、そのまま入力して大丈夫です</a:t>
            </a:r>
            <a:r>
              <a:rPr sz="1400" b="1" dirty="0">
                <a:solidFill>
                  <a:srgbClr val="1F2937"/>
                </a:solidFill>
                <a:latin typeface="Yu Gothic"/>
              </a:rPr>
              <a:t>。</a:t>
            </a:r>
          </a:p>
        </p:txBody>
      </p:sp>
      <p:sp>
        <p:nvSpPr>
          <p:cNvPr id="14" name="Rectangle 13"/>
          <p:cNvSpPr/>
          <p:nvPr/>
        </p:nvSpPr>
        <p:spPr>
          <a:xfrm>
            <a:off x="411480" y="6464808"/>
            <a:ext cx="11384280" cy="9144"/>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5" name="TextBox 14"/>
          <p:cNvSpPr txBox="1"/>
          <p:nvPr/>
        </p:nvSpPr>
        <p:spPr>
          <a:xfrm>
            <a:off x="502920" y="6501384"/>
            <a:ext cx="2255746" cy="223138"/>
          </a:xfrm>
          <a:prstGeom prst="rect">
            <a:avLst/>
          </a:prstGeom>
          <a:noFill/>
        </p:spPr>
        <p:txBody>
          <a:bodyPr wrap="none">
            <a:spAutoFit/>
          </a:bodyPr>
          <a:lstStyle/>
          <a:p>
            <a:r>
              <a:rPr sz="850" b="1">
                <a:solidFill>
                  <a:srgbClr val="64748B"/>
                </a:solidFill>
                <a:latin typeface="Yu Gothic"/>
              </a:rPr>
              <a:t>本資料は利用者向けの画面説明資料です。</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8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latin typeface="+mn-ea"/>
            </a:endParaRPr>
          </a:p>
        </p:txBody>
      </p:sp>
      <p:sp>
        <p:nvSpPr>
          <p:cNvPr id="3" name="TextBox 2"/>
          <p:cNvSpPr txBox="1"/>
          <p:nvPr/>
        </p:nvSpPr>
        <p:spPr>
          <a:xfrm>
            <a:off x="502920" y="109728"/>
            <a:ext cx="3185487" cy="492443"/>
          </a:xfrm>
          <a:prstGeom prst="rect">
            <a:avLst/>
          </a:prstGeom>
          <a:noFill/>
        </p:spPr>
        <p:txBody>
          <a:bodyPr wrap="none">
            <a:spAutoFit/>
          </a:bodyPr>
          <a:lstStyle/>
          <a:p>
            <a:r>
              <a:rPr sz="2600" b="1">
                <a:solidFill>
                  <a:srgbClr val="FFFFFF"/>
                </a:solidFill>
                <a:latin typeface="+mn-ea"/>
              </a:rPr>
              <a:t>質問するときのコツ</a:t>
            </a:r>
          </a:p>
        </p:txBody>
      </p:sp>
      <p:sp>
        <p:nvSpPr>
          <p:cNvPr id="4" name="TextBox 3"/>
          <p:cNvSpPr txBox="1"/>
          <p:nvPr/>
        </p:nvSpPr>
        <p:spPr>
          <a:xfrm>
            <a:off x="530352" y="485380"/>
            <a:ext cx="2743059" cy="238527"/>
          </a:xfrm>
          <a:prstGeom prst="rect">
            <a:avLst/>
          </a:prstGeom>
          <a:noFill/>
        </p:spPr>
        <p:txBody>
          <a:bodyPr wrap="none">
            <a:spAutoFit/>
          </a:bodyPr>
          <a:lstStyle/>
          <a:p>
            <a:r>
              <a:rPr sz="950" b="1" dirty="0" err="1">
                <a:solidFill>
                  <a:srgbClr val="C8D7EB"/>
                </a:solidFill>
                <a:latin typeface="+mn-ea"/>
              </a:rPr>
              <a:t>情シス問い合わせAI</a:t>
            </a:r>
            <a:r>
              <a:rPr sz="950" b="1" dirty="0">
                <a:solidFill>
                  <a:srgbClr val="C8D7EB"/>
                </a:solidFill>
                <a:latin typeface="+mn-ea"/>
              </a:rPr>
              <a:t> / </a:t>
            </a:r>
            <a:r>
              <a:rPr sz="950" b="1" dirty="0" err="1">
                <a:solidFill>
                  <a:srgbClr val="C8D7EB"/>
                </a:solidFill>
                <a:latin typeface="+mn-ea"/>
              </a:rPr>
              <a:t>ユーザー向け操作ガイド</a:t>
            </a:r>
            <a:endParaRPr sz="950" b="1" dirty="0">
              <a:solidFill>
                <a:srgbClr val="C8D7EB"/>
              </a:solidFill>
              <a:latin typeface="+mn-ea"/>
            </a:endParaRPr>
          </a:p>
        </p:txBody>
      </p:sp>
      <p:sp>
        <p:nvSpPr>
          <p:cNvPr id="5" name="Rounded Rectangle 4"/>
          <p:cNvSpPr/>
          <p:nvPr/>
        </p:nvSpPr>
        <p:spPr>
          <a:xfrm>
            <a:off x="11109960" y="128016"/>
            <a:ext cx="68580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mn-ea"/>
              </a:rPr>
              <a:t>03</a:t>
            </a:r>
          </a:p>
        </p:txBody>
      </p:sp>
      <p:sp>
        <p:nvSpPr>
          <p:cNvPr id="6" name="Rounded Rectangle 5"/>
          <p:cNvSpPr/>
          <p:nvPr/>
        </p:nvSpPr>
        <p:spPr>
          <a:xfrm>
            <a:off x="548640" y="1097280"/>
            <a:ext cx="3794760" cy="4480560"/>
          </a:xfrm>
          <a:prstGeom prst="roundRect">
            <a:avLst/>
          </a:prstGeom>
          <a:solidFill>
            <a:srgbClr val="FAFCFF"/>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latin typeface="+mn-ea"/>
            </a:endParaRPr>
          </a:p>
        </p:txBody>
      </p:sp>
      <p:sp>
        <p:nvSpPr>
          <p:cNvPr id="7" name="TextBox 6"/>
          <p:cNvSpPr txBox="1"/>
          <p:nvPr/>
        </p:nvSpPr>
        <p:spPr>
          <a:xfrm>
            <a:off x="713232" y="1188720"/>
            <a:ext cx="3185487" cy="369332"/>
          </a:xfrm>
          <a:prstGeom prst="rect">
            <a:avLst/>
          </a:prstGeom>
          <a:noFill/>
        </p:spPr>
        <p:txBody>
          <a:bodyPr wrap="none">
            <a:spAutoFit/>
          </a:bodyPr>
          <a:lstStyle/>
          <a:p>
            <a:r>
              <a:rPr sz="1800" b="1" dirty="0" err="1">
                <a:solidFill>
                  <a:srgbClr val="1F2937"/>
                </a:solidFill>
                <a:latin typeface="+mn-ea"/>
              </a:rPr>
              <a:t>見つかりやすい質問の書き方</a:t>
            </a:r>
            <a:endParaRPr sz="1800" b="1" dirty="0">
              <a:solidFill>
                <a:srgbClr val="1F2937"/>
              </a:solidFill>
              <a:latin typeface="+mn-ea"/>
            </a:endParaRPr>
          </a:p>
        </p:txBody>
      </p:sp>
      <p:sp>
        <p:nvSpPr>
          <p:cNvPr id="8" name="Rectangle 7"/>
          <p:cNvSpPr/>
          <p:nvPr/>
        </p:nvSpPr>
        <p:spPr>
          <a:xfrm>
            <a:off x="713232" y="1508760"/>
            <a:ext cx="3147994" cy="45719"/>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latin typeface="+mn-ea"/>
            </a:endParaRPr>
          </a:p>
        </p:txBody>
      </p:sp>
      <p:sp>
        <p:nvSpPr>
          <p:cNvPr id="9" name="TextBox 8"/>
          <p:cNvSpPr txBox="1"/>
          <p:nvPr/>
        </p:nvSpPr>
        <p:spPr>
          <a:xfrm>
            <a:off x="713232" y="1627632"/>
            <a:ext cx="3465576" cy="2593018"/>
          </a:xfrm>
          <a:prstGeom prst="rect">
            <a:avLst/>
          </a:prstGeom>
          <a:noFill/>
        </p:spPr>
        <p:txBody>
          <a:bodyPr wrap="square">
            <a:spAutoFit/>
          </a:bodyPr>
          <a:lstStyle/>
          <a:p>
            <a:pPr>
              <a:spcAft>
                <a:spcPts val="500"/>
              </a:spcAft>
            </a:pPr>
            <a:r>
              <a:rPr sz="1500" b="1" dirty="0" err="1">
                <a:solidFill>
                  <a:srgbClr val="1F2937"/>
                </a:solidFill>
                <a:latin typeface="+mn-ea"/>
              </a:rPr>
              <a:t>対象を入れる：PC、プリンタ、VPN、申請書、アカウント</a:t>
            </a:r>
            <a:r>
              <a:rPr sz="1500" b="1" dirty="0">
                <a:solidFill>
                  <a:srgbClr val="1F2937"/>
                </a:solidFill>
                <a:latin typeface="+mn-ea"/>
              </a:rPr>
              <a:t> </a:t>
            </a:r>
            <a:r>
              <a:rPr sz="1500" b="1" dirty="0" err="1">
                <a:solidFill>
                  <a:srgbClr val="1F2937"/>
                </a:solidFill>
                <a:latin typeface="+mn-ea"/>
              </a:rPr>
              <a:t>など</a:t>
            </a:r>
            <a:r>
              <a:rPr sz="1500" b="1" dirty="0">
                <a:solidFill>
                  <a:srgbClr val="1F2937"/>
                </a:solidFill>
                <a:latin typeface="+mn-ea"/>
              </a:rPr>
              <a:t>。</a:t>
            </a:r>
          </a:p>
          <a:p>
            <a:pPr>
              <a:spcAft>
                <a:spcPts val="500"/>
              </a:spcAft>
            </a:pPr>
            <a:r>
              <a:rPr sz="1500" b="1" dirty="0" err="1">
                <a:solidFill>
                  <a:srgbClr val="1F2937"/>
                </a:solidFill>
                <a:latin typeface="+mn-ea"/>
              </a:rPr>
              <a:t>症状を具体的に書く</a:t>
            </a:r>
            <a:r>
              <a:rPr sz="1500" b="1" dirty="0">
                <a:solidFill>
                  <a:srgbClr val="1F2937"/>
                </a:solidFill>
                <a:latin typeface="+mn-ea"/>
              </a:rPr>
              <a:t>：「</a:t>
            </a:r>
            <a:r>
              <a:rPr sz="1500" b="1" dirty="0" err="1">
                <a:solidFill>
                  <a:srgbClr val="1F2937"/>
                </a:solidFill>
                <a:latin typeface="+mn-ea"/>
              </a:rPr>
              <a:t>つながらない</a:t>
            </a:r>
            <a:r>
              <a:rPr sz="1500" b="1" dirty="0">
                <a:solidFill>
                  <a:srgbClr val="1F2937"/>
                </a:solidFill>
                <a:latin typeface="+mn-ea"/>
              </a:rPr>
              <a:t>」「</a:t>
            </a:r>
            <a:r>
              <a:rPr sz="1500" b="1" dirty="0" err="1">
                <a:solidFill>
                  <a:srgbClr val="1F2937"/>
                </a:solidFill>
                <a:latin typeface="+mn-ea"/>
              </a:rPr>
              <a:t>印刷ジョブが残る</a:t>
            </a:r>
            <a:r>
              <a:rPr sz="1500" b="1" dirty="0">
                <a:solidFill>
                  <a:srgbClr val="1F2937"/>
                </a:solidFill>
                <a:latin typeface="+mn-ea"/>
              </a:rPr>
              <a:t>」「</a:t>
            </a:r>
            <a:r>
              <a:rPr sz="1500" b="1" dirty="0" err="1">
                <a:solidFill>
                  <a:srgbClr val="1F2937"/>
                </a:solidFill>
                <a:latin typeface="+mn-ea"/>
              </a:rPr>
              <a:t>申請書の書式が分からない」など</a:t>
            </a:r>
            <a:r>
              <a:rPr sz="1500" b="1" dirty="0">
                <a:solidFill>
                  <a:srgbClr val="1F2937"/>
                </a:solidFill>
                <a:latin typeface="+mn-ea"/>
              </a:rPr>
              <a:t>。</a:t>
            </a:r>
          </a:p>
          <a:p>
            <a:pPr>
              <a:spcAft>
                <a:spcPts val="500"/>
              </a:spcAft>
            </a:pPr>
            <a:r>
              <a:rPr sz="1500" b="1" dirty="0" err="1">
                <a:solidFill>
                  <a:srgbClr val="1F2937"/>
                </a:solidFill>
                <a:latin typeface="+mn-ea"/>
              </a:rPr>
              <a:t>分かる範囲で状況を追加する：エラー文、発生タイミング、操作した内容</a:t>
            </a:r>
            <a:r>
              <a:rPr sz="1500" b="1" dirty="0">
                <a:solidFill>
                  <a:srgbClr val="1F2937"/>
                </a:solidFill>
                <a:latin typeface="+mn-ea"/>
              </a:rPr>
              <a:t>。</a:t>
            </a:r>
          </a:p>
          <a:p>
            <a:pPr>
              <a:spcAft>
                <a:spcPts val="500"/>
              </a:spcAft>
            </a:pPr>
            <a:r>
              <a:rPr sz="1500" b="1" dirty="0" err="1">
                <a:solidFill>
                  <a:srgbClr val="1F2937"/>
                </a:solidFill>
                <a:latin typeface="+mn-ea"/>
              </a:rPr>
              <a:t>一語だけの曖昧な入力は避ける：例「減った」だけだと候補表示になりやすくなります</a:t>
            </a:r>
            <a:r>
              <a:rPr sz="1500" b="1" dirty="0">
                <a:solidFill>
                  <a:srgbClr val="1F2937"/>
                </a:solidFill>
                <a:latin typeface="+mn-ea"/>
              </a:rPr>
              <a:t>。</a:t>
            </a:r>
          </a:p>
        </p:txBody>
      </p:sp>
      <p:sp>
        <p:nvSpPr>
          <p:cNvPr id="10" name="Rounded Rectangle 9"/>
          <p:cNvSpPr/>
          <p:nvPr/>
        </p:nvSpPr>
        <p:spPr>
          <a:xfrm>
            <a:off x="4526280" y="1097280"/>
            <a:ext cx="7269480" cy="4480560"/>
          </a:xfrm>
          <a:prstGeom prst="roundRect">
            <a:avLst/>
          </a:prstGeom>
          <a:solidFill>
            <a:srgbClr val="FAFAFA"/>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latin typeface="+mn-ea"/>
            </a:endParaRPr>
          </a:p>
        </p:txBody>
      </p:sp>
      <p:sp>
        <p:nvSpPr>
          <p:cNvPr id="11" name="TextBox 10"/>
          <p:cNvSpPr txBox="1"/>
          <p:nvPr/>
        </p:nvSpPr>
        <p:spPr>
          <a:xfrm>
            <a:off x="4709160" y="1280160"/>
            <a:ext cx="761747" cy="323165"/>
          </a:xfrm>
          <a:prstGeom prst="rect">
            <a:avLst/>
          </a:prstGeom>
          <a:noFill/>
        </p:spPr>
        <p:txBody>
          <a:bodyPr wrap="none">
            <a:spAutoFit/>
          </a:bodyPr>
          <a:lstStyle/>
          <a:p>
            <a:r>
              <a:rPr sz="1500" b="1">
                <a:solidFill>
                  <a:srgbClr val="1F2937"/>
                </a:solidFill>
                <a:latin typeface="+mn-ea"/>
              </a:rPr>
              <a:t>入力例</a:t>
            </a:r>
          </a:p>
        </p:txBody>
      </p:sp>
      <p:sp>
        <p:nvSpPr>
          <p:cNvPr id="12" name="TextBox 11"/>
          <p:cNvSpPr txBox="1"/>
          <p:nvPr/>
        </p:nvSpPr>
        <p:spPr>
          <a:xfrm>
            <a:off x="7955279" y="1280160"/>
            <a:ext cx="569387" cy="323165"/>
          </a:xfrm>
          <a:prstGeom prst="rect">
            <a:avLst/>
          </a:prstGeom>
          <a:noFill/>
        </p:spPr>
        <p:txBody>
          <a:bodyPr wrap="none">
            <a:spAutoFit/>
          </a:bodyPr>
          <a:lstStyle/>
          <a:p>
            <a:r>
              <a:rPr sz="1500" b="1">
                <a:solidFill>
                  <a:srgbClr val="1F2937"/>
                </a:solidFill>
                <a:latin typeface="+mn-ea"/>
              </a:rPr>
              <a:t>評価</a:t>
            </a:r>
          </a:p>
        </p:txBody>
      </p:sp>
      <p:sp>
        <p:nvSpPr>
          <p:cNvPr id="13" name="TextBox 12"/>
          <p:cNvSpPr txBox="1"/>
          <p:nvPr/>
        </p:nvSpPr>
        <p:spPr>
          <a:xfrm>
            <a:off x="9189720" y="1280160"/>
            <a:ext cx="569387" cy="323165"/>
          </a:xfrm>
          <a:prstGeom prst="rect">
            <a:avLst/>
          </a:prstGeom>
          <a:noFill/>
        </p:spPr>
        <p:txBody>
          <a:bodyPr wrap="none">
            <a:spAutoFit/>
          </a:bodyPr>
          <a:lstStyle/>
          <a:p>
            <a:r>
              <a:rPr sz="1500" b="1">
                <a:solidFill>
                  <a:srgbClr val="1F2937"/>
                </a:solidFill>
                <a:latin typeface="+mn-ea"/>
              </a:rPr>
              <a:t>理由</a:t>
            </a:r>
          </a:p>
        </p:txBody>
      </p:sp>
      <p:sp>
        <p:nvSpPr>
          <p:cNvPr id="14" name="Rectangle 13"/>
          <p:cNvSpPr/>
          <p:nvPr/>
        </p:nvSpPr>
        <p:spPr>
          <a:xfrm>
            <a:off x="4663440" y="2286000"/>
            <a:ext cx="6812280" cy="9144"/>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latin typeface="+mn-ea"/>
            </a:endParaRPr>
          </a:p>
        </p:txBody>
      </p:sp>
      <p:sp>
        <p:nvSpPr>
          <p:cNvPr id="15" name="TextBox 14"/>
          <p:cNvSpPr txBox="1"/>
          <p:nvPr/>
        </p:nvSpPr>
        <p:spPr>
          <a:xfrm>
            <a:off x="4709160" y="1691640"/>
            <a:ext cx="3017520" cy="300082"/>
          </a:xfrm>
          <a:prstGeom prst="rect">
            <a:avLst/>
          </a:prstGeom>
          <a:noFill/>
        </p:spPr>
        <p:txBody>
          <a:bodyPr wrap="square">
            <a:spAutoFit/>
          </a:bodyPr>
          <a:lstStyle/>
          <a:p>
            <a:r>
              <a:rPr sz="1350" b="1">
                <a:solidFill>
                  <a:srgbClr val="1F2937"/>
                </a:solidFill>
                <a:latin typeface="+mn-ea"/>
              </a:rPr>
              <a:t>「申請書」</a:t>
            </a:r>
          </a:p>
        </p:txBody>
      </p:sp>
      <p:sp>
        <p:nvSpPr>
          <p:cNvPr id="16" name="TextBox 15"/>
          <p:cNvSpPr txBox="1"/>
          <p:nvPr/>
        </p:nvSpPr>
        <p:spPr>
          <a:xfrm>
            <a:off x="8001000" y="1691640"/>
            <a:ext cx="731520" cy="369332"/>
          </a:xfrm>
          <a:prstGeom prst="rect">
            <a:avLst/>
          </a:prstGeom>
          <a:noFill/>
        </p:spPr>
        <p:txBody>
          <a:bodyPr wrap="square">
            <a:spAutoFit/>
          </a:bodyPr>
          <a:lstStyle/>
          <a:p>
            <a:r>
              <a:rPr sz="1800" b="1">
                <a:solidFill>
                  <a:srgbClr val="F97316"/>
                </a:solidFill>
                <a:latin typeface="+mn-ea"/>
              </a:rPr>
              <a:t>△</a:t>
            </a:r>
          </a:p>
        </p:txBody>
      </p:sp>
      <p:sp>
        <p:nvSpPr>
          <p:cNvPr id="17" name="TextBox 16"/>
          <p:cNvSpPr txBox="1"/>
          <p:nvPr/>
        </p:nvSpPr>
        <p:spPr>
          <a:xfrm>
            <a:off x="8778240" y="1691640"/>
            <a:ext cx="2743200" cy="284693"/>
          </a:xfrm>
          <a:prstGeom prst="rect">
            <a:avLst/>
          </a:prstGeom>
          <a:noFill/>
        </p:spPr>
        <p:txBody>
          <a:bodyPr wrap="square">
            <a:spAutoFit/>
          </a:bodyPr>
          <a:lstStyle/>
          <a:p>
            <a:r>
              <a:rPr sz="1250" b="1">
                <a:solidFill>
                  <a:srgbClr val="64748B"/>
                </a:solidFill>
                <a:latin typeface="+mn-ea"/>
              </a:rPr>
              <a:t>対象は分かるが、何の申請書か不明</a:t>
            </a:r>
          </a:p>
        </p:txBody>
      </p:sp>
      <p:sp>
        <p:nvSpPr>
          <p:cNvPr id="18" name="Rectangle 17"/>
          <p:cNvSpPr/>
          <p:nvPr/>
        </p:nvSpPr>
        <p:spPr>
          <a:xfrm>
            <a:off x="4663440" y="3127248"/>
            <a:ext cx="6812280" cy="9144"/>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latin typeface="+mn-ea"/>
            </a:endParaRPr>
          </a:p>
        </p:txBody>
      </p:sp>
      <p:sp>
        <p:nvSpPr>
          <p:cNvPr id="19" name="TextBox 18"/>
          <p:cNvSpPr txBox="1"/>
          <p:nvPr/>
        </p:nvSpPr>
        <p:spPr>
          <a:xfrm>
            <a:off x="4709160" y="2532888"/>
            <a:ext cx="3017520" cy="502920"/>
          </a:xfrm>
          <a:prstGeom prst="rect">
            <a:avLst/>
          </a:prstGeom>
          <a:noFill/>
        </p:spPr>
        <p:txBody>
          <a:bodyPr wrap="square">
            <a:spAutoFit/>
          </a:bodyPr>
          <a:lstStyle/>
          <a:p>
            <a:r>
              <a:rPr sz="1350" b="1">
                <a:solidFill>
                  <a:srgbClr val="1F2937"/>
                </a:solidFill>
                <a:latin typeface="+mn-ea"/>
              </a:rPr>
              <a:t>「アプリインストールの申請書はどれですか？」</a:t>
            </a:r>
          </a:p>
        </p:txBody>
      </p:sp>
      <p:sp>
        <p:nvSpPr>
          <p:cNvPr id="20" name="TextBox 19"/>
          <p:cNvSpPr txBox="1"/>
          <p:nvPr/>
        </p:nvSpPr>
        <p:spPr>
          <a:xfrm>
            <a:off x="8001000" y="2532888"/>
            <a:ext cx="731520" cy="369332"/>
          </a:xfrm>
          <a:prstGeom prst="rect">
            <a:avLst/>
          </a:prstGeom>
          <a:noFill/>
        </p:spPr>
        <p:txBody>
          <a:bodyPr wrap="square">
            <a:spAutoFit/>
          </a:bodyPr>
          <a:lstStyle/>
          <a:p>
            <a:r>
              <a:rPr sz="1800" b="1">
                <a:solidFill>
                  <a:srgbClr val="22C55E"/>
                </a:solidFill>
                <a:latin typeface="+mn-ea"/>
              </a:rPr>
              <a:t>◎</a:t>
            </a:r>
          </a:p>
        </p:txBody>
      </p:sp>
      <p:sp>
        <p:nvSpPr>
          <p:cNvPr id="21" name="TextBox 20"/>
          <p:cNvSpPr txBox="1"/>
          <p:nvPr/>
        </p:nvSpPr>
        <p:spPr>
          <a:xfrm>
            <a:off x="8778240" y="2532888"/>
            <a:ext cx="2743200" cy="477054"/>
          </a:xfrm>
          <a:prstGeom prst="rect">
            <a:avLst/>
          </a:prstGeom>
          <a:noFill/>
        </p:spPr>
        <p:txBody>
          <a:bodyPr wrap="square">
            <a:spAutoFit/>
          </a:bodyPr>
          <a:lstStyle/>
          <a:p>
            <a:r>
              <a:rPr sz="1250" b="1">
                <a:solidFill>
                  <a:srgbClr val="64748B"/>
                </a:solidFill>
                <a:latin typeface="+mn-ea"/>
              </a:rPr>
              <a:t>対象と目的が具体的で見つかりやすい</a:t>
            </a:r>
          </a:p>
        </p:txBody>
      </p:sp>
      <p:sp>
        <p:nvSpPr>
          <p:cNvPr id="22" name="Rectangle 21"/>
          <p:cNvSpPr/>
          <p:nvPr/>
        </p:nvSpPr>
        <p:spPr>
          <a:xfrm>
            <a:off x="4663440" y="3968496"/>
            <a:ext cx="6812280" cy="9144"/>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latin typeface="+mn-ea"/>
            </a:endParaRPr>
          </a:p>
        </p:txBody>
      </p:sp>
      <p:sp>
        <p:nvSpPr>
          <p:cNvPr id="23" name="TextBox 22"/>
          <p:cNvSpPr txBox="1"/>
          <p:nvPr/>
        </p:nvSpPr>
        <p:spPr>
          <a:xfrm>
            <a:off x="4709160" y="3374136"/>
            <a:ext cx="3017520" cy="300082"/>
          </a:xfrm>
          <a:prstGeom prst="rect">
            <a:avLst/>
          </a:prstGeom>
          <a:noFill/>
        </p:spPr>
        <p:txBody>
          <a:bodyPr wrap="square">
            <a:spAutoFit/>
          </a:bodyPr>
          <a:lstStyle/>
          <a:p>
            <a:r>
              <a:rPr sz="1350" b="1">
                <a:solidFill>
                  <a:srgbClr val="1F2937"/>
                </a:solidFill>
                <a:latin typeface="+mn-ea"/>
              </a:rPr>
              <a:t>「減った」</a:t>
            </a:r>
          </a:p>
        </p:txBody>
      </p:sp>
      <p:sp>
        <p:nvSpPr>
          <p:cNvPr id="24" name="TextBox 23"/>
          <p:cNvSpPr txBox="1"/>
          <p:nvPr/>
        </p:nvSpPr>
        <p:spPr>
          <a:xfrm>
            <a:off x="8001000" y="3374136"/>
            <a:ext cx="731520" cy="369332"/>
          </a:xfrm>
          <a:prstGeom prst="rect">
            <a:avLst/>
          </a:prstGeom>
          <a:noFill/>
        </p:spPr>
        <p:txBody>
          <a:bodyPr wrap="square">
            <a:spAutoFit/>
          </a:bodyPr>
          <a:lstStyle/>
          <a:p>
            <a:r>
              <a:rPr sz="1800" b="1">
                <a:solidFill>
                  <a:srgbClr val="F97316"/>
                </a:solidFill>
                <a:latin typeface="+mn-ea"/>
              </a:rPr>
              <a:t>△</a:t>
            </a:r>
          </a:p>
        </p:txBody>
      </p:sp>
      <p:sp>
        <p:nvSpPr>
          <p:cNvPr id="25" name="TextBox 24"/>
          <p:cNvSpPr txBox="1"/>
          <p:nvPr/>
        </p:nvSpPr>
        <p:spPr>
          <a:xfrm>
            <a:off x="8778240" y="3374136"/>
            <a:ext cx="2743200" cy="284693"/>
          </a:xfrm>
          <a:prstGeom prst="rect">
            <a:avLst/>
          </a:prstGeom>
          <a:noFill/>
        </p:spPr>
        <p:txBody>
          <a:bodyPr wrap="square">
            <a:spAutoFit/>
          </a:bodyPr>
          <a:lstStyle/>
          <a:p>
            <a:r>
              <a:rPr sz="1250" b="1">
                <a:solidFill>
                  <a:srgbClr val="64748B"/>
                </a:solidFill>
                <a:latin typeface="+mn-ea"/>
              </a:rPr>
              <a:t>意味が曖昧で候補表示になりやすい</a:t>
            </a:r>
          </a:p>
        </p:txBody>
      </p:sp>
      <p:sp>
        <p:nvSpPr>
          <p:cNvPr id="26" name="Rectangle 25"/>
          <p:cNvSpPr/>
          <p:nvPr/>
        </p:nvSpPr>
        <p:spPr>
          <a:xfrm>
            <a:off x="4663440" y="4809744"/>
            <a:ext cx="6812280" cy="9144"/>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latin typeface="+mn-ea"/>
            </a:endParaRPr>
          </a:p>
        </p:txBody>
      </p:sp>
      <p:sp>
        <p:nvSpPr>
          <p:cNvPr id="27" name="TextBox 26"/>
          <p:cNvSpPr txBox="1"/>
          <p:nvPr/>
        </p:nvSpPr>
        <p:spPr>
          <a:xfrm>
            <a:off x="4709160" y="4215384"/>
            <a:ext cx="3017520" cy="502920"/>
          </a:xfrm>
          <a:prstGeom prst="rect">
            <a:avLst/>
          </a:prstGeom>
          <a:noFill/>
        </p:spPr>
        <p:txBody>
          <a:bodyPr wrap="square">
            <a:spAutoFit/>
          </a:bodyPr>
          <a:lstStyle/>
          <a:p>
            <a:r>
              <a:rPr sz="1350" b="1">
                <a:solidFill>
                  <a:srgbClr val="1F2937"/>
                </a:solidFill>
                <a:latin typeface="+mn-ea"/>
              </a:rPr>
              <a:t>「複合機の印刷ジョブが残ったままです」</a:t>
            </a:r>
          </a:p>
        </p:txBody>
      </p:sp>
      <p:sp>
        <p:nvSpPr>
          <p:cNvPr id="28" name="TextBox 27"/>
          <p:cNvSpPr txBox="1"/>
          <p:nvPr/>
        </p:nvSpPr>
        <p:spPr>
          <a:xfrm>
            <a:off x="8001000" y="4215384"/>
            <a:ext cx="731520" cy="369332"/>
          </a:xfrm>
          <a:prstGeom prst="rect">
            <a:avLst/>
          </a:prstGeom>
          <a:noFill/>
        </p:spPr>
        <p:txBody>
          <a:bodyPr wrap="square">
            <a:spAutoFit/>
          </a:bodyPr>
          <a:lstStyle/>
          <a:p>
            <a:r>
              <a:rPr sz="1800" b="1">
                <a:solidFill>
                  <a:srgbClr val="22C55E"/>
                </a:solidFill>
                <a:latin typeface="+mn-ea"/>
              </a:rPr>
              <a:t>◎</a:t>
            </a:r>
          </a:p>
        </p:txBody>
      </p:sp>
      <p:sp>
        <p:nvSpPr>
          <p:cNvPr id="29" name="TextBox 28"/>
          <p:cNvSpPr txBox="1"/>
          <p:nvPr/>
        </p:nvSpPr>
        <p:spPr>
          <a:xfrm>
            <a:off x="8778240" y="4215384"/>
            <a:ext cx="2743200" cy="284693"/>
          </a:xfrm>
          <a:prstGeom prst="rect">
            <a:avLst/>
          </a:prstGeom>
          <a:noFill/>
        </p:spPr>
        <p:txBody>
          <a:bodyPr wrap="square">
            <a:spAutoFit/>
          </a:bodyPr>
          <a:lstStyle/>
          <a:p>
            <a:r>
              <a:rPr sz="1250" b="1">
                <a:solidFill>
                  <a:srgbClr val="64748B"/>
                </a:solidFill>
                <a:latin typeface="+mn-ea"/>
              </a:rPr>
              <a:t>症状が具体的で候補の精度が上がる</a:t>
            </a:r>
          </a:p>
        </p:txBody>
      </p:sp>
      <p:sp>
        <p:nvSpPr>
          <p:cNvPr id="30" name="Rectangle 29"/>
          <p:cNvSpPr/>
          <p:nvPr/>
        </p:nvSpPr>
        <p:spPr>
          <a:xfrm>
            <a:off x="411480" y="6464808"/>
            <a:ext cx="11384280" cy="9144"/>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latin typeface="+mn-ea"/>
            </a:endParaRPr>
          </a:p>
        </p:txBody>
      </p:sp>
      <p:sp>
        <p:nvSpPr>
          <p:cNvPr id="31" name="TextBox 30"/>
          <p:cNvSpPr txBox="1"/>
          <p:nvPr/>
        </p:nvSpPr>
        <p:spPr>
          <a:xfrm>
            <a:off x="502920" y="6501384"/>
            <a:ext cx="2255746" cy="223138"/>
          </a:xfrm>
          <a:prstGeom prst="rect">
            <a:avLst/>
          </a:prstGeom>
          <a:noFill/>
        </p:spPr>
        <p:txBody>
          <a:bodyPr wrap="none">
            <a:spAutoFit/>
          </a:bodyPr>
          <a:lstStyle/>
          <a:p>
            <a:r>
              <a:rPr sz="850" b="1">
                <a:solidFill>
                  <a:srgbClr val="64748B"/>
                </a:solidFill>
                <a:latin typeface="+mn-ea"/>
              </a:rPr>
              <a:t>本資料は利用者向けの画面説明資料です。</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8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 name="TextBox 2"/>
          <p:cNvSpPr txBox="1"/>
          <p:nvPr/>
        </p:nvSpPr>
        <p:spPr>
          <a:xfrm>
            <a:off x="502920" y="109728"/>
            <a:ext cx="4852610" cy="492443"/>
          </a:xfrm>
          <a:prstGeom prst="rect">
            <a:avLst/>
          </a:prstGeom>
          <a:noFill/>
        </p:spPr>
        <p:txBody>
          <a:bodyPr wrap="none">
            <a:spAutoFit/>
          </a:bodyPr>
          <a:lstStyle/>
          <a:p>
            <a:r>
              <a:rPr sz="2600" b="1">
                <a:solidFill>
                  <a:srgbClr val="FFFFFF"/>
                </a:solidFill>
                <a:latin typeface="Yu Gothic"/>
              </a:rPr>
              <a:t>一致度が高い場合：回答を表示</a:t>
            </a:r>
          </a:p>
        </p:txBody>
      </p:sp>
      <p:sp>
        <p:nvSpPr>
          <p:cNvPr id="4" name="TextBox 3"/>
          <p:cNvSpPr txBox="1"/>
          <p:nvPr/>
        </p:nvSpPr>
        <p:spPr>
          <a:xfrm>
            <a:off x="530352" y="485380"/>
            <a:ext cx="2752677" cy="238527"/>
          </a:xfrm>
          <a:prstGeom prst="rect">
            <a:avLst/>
          </a:prstGeom>
          <a:noFill/>
        </p:spPr>
        <p:txBody>
          <a:bodyPr wrap="none">
            <a:spAutoFit/>
          </a:bodyPr>
          <a:lstStyle/>
          <a:p>
            <a:r>
              <a:rPr sz="950" b="1" dirty="0" err="1">
                <a:solidFill>
                  <a:srgbClr val="C8D7EB"/>
                </a:solidFill>
                <a:latin typeface="Yu Gothic"/>
              </a:rPr>
              <a:t>情シス問い合わせAI</a:t>
            </a:r>
            <a:r>
              <a:rPr sz="950" b="1" dirty="0">
                <a:solidFill>
                  <a:srgbClr val="C8D7EB"/>
                </a:solidFill>
                <a:latin typeface="Yu Gothic"/>
              </a:rPr>
              <a:t> / </a:t>
            </a:r>
            <a:r>
              <a:rPr sz="950" b="1" dirty="0" err="1">
                <a:solidFill>
                  <a:srgbClr val="C8D7EB"/>
                </a:solidFill>
                <a:latin typeface="Yu Gothic"/>
              </a:rPr>
              <a:t>ユーザー向け操作ガイド</a:t>
            </a:r>
            <a:endParaRPr sz="950" b="1" dirty="0">
              <a:solidFill>
                <a:srgbClr val="C8D7EB"/>
              </a:solidFill>
              <a:latin typeface="Yu Gothic"/>
            </a:endParaRPr>
          </a:p>
        </p:txBody>
      </p:sp>
      <p:sp>
        <p:nvSpPr>
          <p:cNvPr id="5" name="Rounded Rectangle 4"/>
          <p:cNvSpPr/>
          <p:nvPr/>
        </p:nvSpPr>
        <p:spPr>
          <a:xfrm>
            <a:off x="11109960" y="128016"/>
            <a:ext cx="68580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04</a:t>
            </a:r>
          </a:p>
        </p:txBody>
      </p:sp>
      <p:sp>
        <p:nvSpPr>
          <p:cNvPr id="7" name="Rounded Rectangle 6"/>
          <p:cNvSpPr/>
          <p:nvPr/>
        </p:nvSpPr>
        <p:spPr>
          <a:xfrm>
            <a:off x="4983480" y="1069848"/>
            <a:ext cx="6812280" cy="4241483"/>
          </a:xfrm>
          <a:prstGeom prst="roundRect">
            <a:avLst/>
          </a:prstGeom>
          <a:noFill/>
          <a:ln w="15240">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pic>
        <p:nvPicPr>
          <p:cNvPr id="6" name="Picture 5" descr="3fb7e566-fe9f-5577-b768-c31fe5e867d1.png"/>
          <p:cNvPicPr>
            <a:picLocks noChangeAspect="1"/>
          </p:cNvPicPr>
          <p:nvPr/>
        </p:nvPicPr>
        <p:blipFill>
          <a:blip r:embed="rId2"/>
          <a:stretch>
            <a:fillRect/>
          </a:stretch>
        </p:blipFill>
        <p:spPr>
          <a:xfrm>
            <a:off x="5120640" y="1717174"/>
            <a:ext cx="6492240" cy="2838435"/>
          </a:xfrm>
          <a:prstGeom prst="rect">
            <a:avLst/>
          </a:prstGeom>
        </p:spPr>
      </p:pic>
      <p:sp>
        <p:nvSpPr>
          <p:cNvPr id="8" name="Oval 7"/>
          <p:cNvSpPr/>
          <p:nvPr/>
        </p:nvSpPr>
        <p:spPr>
          <a:xfrm>
            <a:off x="640080" y="1203642"/>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9" name="TextBox 8"/>
          <p:cNvSpPr txBox="1"/>
          <p:nvPr/>
        </p:nvSpPr>
        <p:spPr>
          <a:xfrm>
            <a:off x="1143000" y="1157922"/>
            <a:ext cx="3566160" cy="756617"/>
          </a:xfrm>
          <a:prstGeom prst="rect">
            <a:avLst/>
          </a:prstGeom>
          <a:noFill/>
        </p:spPr>
        <p:txBody>
          <a:bodyPr wrap="square">
            <a:spAutoFit/>
          </a:bodyPr>
          <a:lstStyle/>
          <a:p>
            <a:r>
              <a:rPr sz="1550" b="1" dirty="0" err="1">
                <a:solidFill>
                  <a:srgbClr val="1F2937"/>
                </a:solidFill>
                <a:latin typeface="Yu Gothic"/>
              </a:rPr>
              <a:t>FAQ一致度（採用）を確認</a:t>
            </a:r>
            <a:endParaRPr sz="1550" b="1" dirty="0">
              <a:solidFill>
                <a:srgbClr val="1F2937"/>
              </a:solidFill>
              <a:latin typeface="Yu Gothic"/>
            </a:endParaRPr>
          </a:p>
          <a:p>
            <a:pPr>
              <a:spcBef>
                <a:spcPts val="200"/>
              </a:spcBef>
            </a:pPr>
            <a:r>
              <a:rPr sz="1300" b="1" dirty="0" err="1">
                <a:solidFill>
                  <a:srgbClr val="64748B"/>
                </a:solidFill>
                <a:latin typeface="Yu Gothic"/>
              </a:rPr>
              <a:t>一致度が高い場合は、最も近いFAQを採用して回答を表示します</a:t>
            </a:r>
            <a:r>
              <a:rPr sz="1300" b="1" dirty="0">
                <a:solidFill>
                  <a:srgbClr val="64748B"/>
                </a:solidFill>
                <a:latin typeface="Yu Gothic"/>
              </a:rPr>
              <a:t>。</a:t>
            </a:r>
          </a:p>
        </p:txBody>
      </p:sp>
      <p:sp>
        <p:nvSpPr>
          <p:cNvPr id="10" name="Oval 9"/>
          <p:cNvSpPr/>
          <p:nvPr/>
        </p:nvSpPr>
        <p:spPr>
          <a:xfrm>
            <a:off x="640080" y="1990026"/>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1" name="TextBox 10"/>
          <p:cNvSpPr txBox="1"/>
          <p:nvPr/>
        </p:nvSpPr>
        <p:spPr>
          <a:xfrm>
            <a:off x="1143000" y="1944306"/>
            <a:ext cx="3566160" cy="756617"/>
          </a:xfrm>
          <a:prstGeom prst="rect">
            <a:avLst/>
          </a:prstGeom>
          <a:noFill/>
        </p:spPr>
        <p:txBody>
          <a:bodyPr wrap="square">
            <a:spAutoFit/>
          </a:bodyPr>
          <a:lstStyle/>
          <a:p>
            <a:r>
              <a:rPr sz="1550" b="1">
                <a:solidFill>
                  <a:srgbClr val="1F2937"/>
                </a:solidFill>
                <a:latin typeface="Yu Gothic"/>
              </a:rPr>
              <a:t>まず結論が表示される</a:t>
            </a:r>
          </a:p>
          <a:p>
            <a:pPr>
              <a:spcBef>
                <a:spcPts val="200"/>
              </a:spcBef>
            </a:pPr>
            <a:r>
              <a:rPr sz="1300" b="1">
                <a:solidFill>
                  <a:srgbClr val="64748B"/>
                </a:solidFill>
                <a:latin typeface="Yu Gothic"/>
              </a:rPr>
              <a:t>回答の冒頭で、どの申請書を使うかなど、要点をすぐ確認できます。</a:t>
            </a:r>
          </a:p>
        </p:txBody>
      </p:sp>
      <p:sp>
        <p:nvSpPr>
          <p:cNvPr id="12" name="Oval 11"/>
          <p:cNvSpPr/>
          <p:nvPr/>
        </p:nvSpPr>
        <p:spPr>
          <a:xfrm>
            <a:off x="640080" y="2776410"/>
            <a:ext cx="384048" cy="384048"/>
          </a:xfrm>
          <a:prstGeom prst="ellipse">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3" name="TextBox 12"/>
          <p:cNvSpPr txBox="1"/>
          <p:nvPr/>
        </p:nvSpPr>
        <p:spPr>
          <a:xfrm>
            <a:off x="1143000" y="2730690"/>
            <a:ext cx="3566160" cy="756617"/>
          </a:xfrm>
          <a:prstGeom prst="rect">
            <a:avLst/>
          </a:prstGeom>
          <a:noFill/>
        </p:spPr>
        <p:txBody>
          <a:bodyPr wrap="square">
            <a:spAutoFit/>
          </a:bodyPr>
          <a:lstStyle/>
          <a:p>
            <a:r>
              <a:rPr sz="1550" b="1">
                <a:solidFill>
                  <a:srgbClr val="1F2937"/>
                </a:solidFill>
                <a:latin typeface="Yu Gothic"/>
              </a:rPr>
              <a:t>手順や関連情報も確認できる</a:t>
            </a:r>
          </a:p>
          <a:p>
            <a:pPr>
              <a:spcBef>
                <a:spcPts val="200"/>
              </a:spcBef>
            </a:pPr>
            <a:r>
              <a:rPr sz="1300" b="1">
                <a:solidFill>
                  <a:srgbClr val="64748B"/>
                </a:solidFill>
                <a:latin typeface="Yu Gothic"/>
              </a:rPr>
              <a:t>必要に応じて手順、関連規程、資料パスまで表示されます。</a:t>
            </a:r>
          </a:p>
        </p:txBody>
      </p:sp>
      <p:sp>
        <p:nvSpPr>
          <p:cNvPr id="14" name="Rounded Rectangle 13"/>
          <p:cNvSpPr/>
          <p:nvPr/>
        </p:nvSpPr>
        <p:spPr>
          <a:xfrm>
            <a:off x="658368" y="4297680"/>
            <a:ext cx="4160520" cy="91440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5" name="TextBox 14"/>
          <p:cNvSpPr txBox="1"/>
          <p:nvPr/>
        </p:nvSpPr>
        <p:spPr>
          <a:xfrm>
            <a:off x="822960" y="4407408"/>
            <a:ext cx="3831336" cy="795089"/>
          </a:xfrm>
          <a:prstGeom prst="rect">
            <a:avLst/>
          </a:prstGeom>
          <a:noFill/>
        </p:spPr>
        <p:txBody>
          <a:bodyPr wrap="square">
            <a:spAutoFit/>
          </a:bodyPr>
          <a:lstStyle/>
          <a:p>
            <a:r>
              <a:rPr sz="1600" b="1">
                <a:solidFill>
                  <a:srgbClr val="1F2937"/>
                </a:solidFill>
                <a:latin typeface="Yu Gothic"/>
              </a:rPr>
              <a:t>この画面で行うこと</a:t>
            </a:r>
          </a:p>
          <a:p>
            <a:pPr>
              <a:spcBef>
                <a:spcPts val="200"/>
              </a:spcBef>
              <a:spcAft>
                <a:spcPts val="400"/>
              </a:spcAft>
            </a:pPr>
            <a:r>
              <a:rPr sz="1400" b="1">
                <a:solidFill>
                  <a:srgbClr val="1F2937"/>
                </a:solidFill>
                <a:latin typeface="Yu Gothic"/>
              </a:rPr>
              <a:t>回答内容を確認し、必要なら資料パスや関連規程も参照します。</a:t>
            </a:r>
          </a:p>
        </p:txBody>
      </p:sp>
      <p:sp>
        <p:nvSpPr>
          <p:cNvPr id="16" name="Rectangle 15"/>
          <p:cNvSpPr/>
          <p:nvPr/>
        </p:nvSpPr>
        <p:spPr>
          <a:xfrm>
            <a:off x="411480" y="6464808"/>
            <a:ext cx="11384280" cy="9144"/>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7" name="TextBox 16"/>
          <p:cNvSpPr txBox="1"/>
          <p:nvPr/>
        </p:nvSpPr>
        <p:spPr>
          <a:xfrm>
            <a:off x="502920" y="6501384"/>
            <a:ext cx="2255746" cy="223138"/>
          </a:xfrm>
          <a:prstGeom prst="rect">
            <a:avLst/>
          </a:prstGeom>
          <a:noFill/>
        </p:spPr>
        <p:txBody>
          <a:bodyPr wrap="none">
            <a:spAutoFit/>
          </a:bodyPr>
          <a:lstStyle/>
          <a:p>
            <a:r>
              <a:rPr sz="850" b="1">
                <a:solidFill>
                  <a:srgbClr val="64748B"/>
                </a:solidFill>
                <a:latin typeface="Yu Gothic"/>
              </a:rPr>
              <a:t>本資料は利用者向けの画面説明資料です。</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8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 name="TextBox 2"/>
          <p:cNvSpPr txBox="1"/>
          <p:nvPr/>
        </p:nvSpPr>
        <p:spPr>
          <a:xfrm>
            <a:off x="502920" y="109728"/>
            <a:ext cx="2852063" cy="492443"/>
          </a:xfrm>
          <a:prstGeom prst="rect">
            <a:avLst/>
          </a:prstGeom>
          <a:noFill/>
        </p:spPr>
        <p:txBody>
          <a:bodyPr wrap="none">
            <a:spAutoFit/>
          </a:bodyPr>
          <a:lstStyle/>
          <a:p>
            <a:r>
              <a:rPr sz="2600" b="1">
                <a:solidFill>
                  <a:srgbClr val="FFFFFF"/>
                </a:solidFill>
                <a:latin typeface="Yu Gothic"/>
              </a:rPr>
              <a:t>回答の根拠を見る</a:t>
            </a:r>
          </a:p>
        </p:txBody>
      </p:sp>
      <p:sp>
        <p:nvSpPr>
          <p:cNvPr id="4" name="TextBox 3"/>
          <p:cNvSpPr txBox="1"/>
          <p:nvPr/>
        </p:nvSpPr>
        <p:spPr>
          <a:xfrm>
            <a:off x="530352" y="485380"/>
            <a:ext cx="2752677" cy="238527"/>
          </a:xfrm>
          <a:prstGeom prst="rect">
            <a:avLst/>
          </a:prstGeom>
          <a:noFill/>
        </p:spPr>
        <p:txBody>
          <a:bodyPr wrap="none">
            <a:spAutoFit/>
          </a:bodyPr>
          <a:lstStyle/>
          <a:p>
            <a:r>
              <a:rPr sz="950" b="1" dirty="0" err="1">
                <a:solidFill>
                  <a:srgbClr val="C8D7EB"/>
                </a:solidFill>
                <a:latin typeface="Yu Gothic"/>
              </a:rPr>
              <a:t>情シス問い合わせAI</a:t>
            </a:r>
            <a:r>
              <a:rPr sz="950" b="1" dirty="0">
                <a:solidFill>
                  <a:srgbClr val="C8D7EB"/>
                </a:solidFill>
                <a:latin typeface="Yu Gothic"/>
              </a:rPr>
              <a:t> / </a:t>
            </a:r>
            <a:r>
              <a:rPr sz="950" b="1" dirty="0" err="1">
                <a:solidFill>
                  <a:srgbClr val="C8D7EB"/>
                </a:solidFill>
                <a:latin typeface="Yu Gothic"/>
              </a:rPr>
              <a:t>ユーザー向け操作ガイド</a:t>
            </a:r>
            <a:endParaRPr sz="950" b="1" dirty="0">
              <a:solidFill>
                <a:srgbClr val="C8D7EB"/>
              </a:solidFill>
              <a:latin typeface="Yu Gothic"/>
            </a:endParaRPr>
          </a:p>
        </p:txBody>
      </p:sp>
      <p:sp>
        <p:nvSpPr>
          <p:cNvPr id="5" name="Rounded Rectangle 4"/>
          <p:cNvSpPr/>
          <p:nvPr/>
        </p:nvSpPr>
        <p:spPr>
          <a:xfrm>
            <a:off x="11109960" y="128016"/>
            <a:ext cx="68580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05</a:t>
            </a:r>
          </a:p>
        </p:txBody>
      </p:sp>
      <p:sp>
        <p:nvSpPr>
          <p:cNvPr id="7" name="Rounded Rectangle 6"/>
          <p:cNvSpPr/>
          <p:nvPr/>
        </p:nvSpPr>
        <p:spPr>
          <a:xfrm>
            <a:off x="4892040" y="1101942"/>
            <a:ext cx="6903720" cy="4041648"/>
          </a:xfrm>
          <a:prstGeom prst="roundRect">
            <a:avLst/>
          </a:prstGeom>
          <a:noFill/>
          <a:ln w="15240">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pic>
        <p:nvPicPr>
          <p:cNvPr id="6" name="Picture 5" descr="0d0818e2-42f2-5d59-baf5-4f54c05b6f73.png"/>
          <p:cNvPicPr>
            <a:picLocks noChangeAspect="1"/>
          </p:cNvPicPr>
          <p:nvPr/>
        </p:nvPicPr>
        <p:blipFill>
          <a:blip r:embed="rId2"/>
          <a:stretch>
            <a:fillRect/>
          </a:stretch>
        </p:blipFill>
        <p:spPr>
          <a:xfrm>
            <a:off x="5074920" y="1832350"/>
            <a:ext cx="6537960" cy="2882583"/>
          </a:xfrm>
          <a:prstGeom prst="rect">
            <a:avLst/>
          </a:prstGeom>
        </p:spPr>
      </p:pic>
      <p:sp>
        <p:nvSpPr>
          <p:cNvPr id="8" name="Oval 7"/>
          <p:cNvSpPr/>
          <p:nvPr/>
        </p:nvSpPr>
        <p:spPr>
          <a:xfrm>
            <a:off x="640080" y="1147662"/>
            <a:ext cx="384048" cy="38404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9" name="TextBox 8"/>
          <p:cNvSpPr txBox="1"/>
          <p:nvPr/>
        </p:nvSpPr>
        <p:spPr>
          <a:xfrm>
            <a:off x="1143000" y="1101942"/>
            <a:ext cx="3474719" cy="756617"/>
          </a:xfrm>
          <a:prstGeom prst="rect">
            <a:avLst/>
          </a:prstGeom>
          <a:noFill/>
        </p:spPr>
        <p:txBody>
          <a:bodyPr wrap="square">
            <a:spAutoFit/>
          </a:bodyPr>
          <a:lstStyle/>
          <a:p>
            <a:r>
              <a:rPr sz="1550" b="1">
                <a:solidFill>
                  <a:srgbClr val="1F2937"/>
                </a:solidFill>
                <a:latin typeface="Yu Gothic"/>
              </a:rPr>
              <a:t>「回答の根拠を見る」を開く</a:t>
            </a:r>
          </a:p>
          <a:p>
            <a:pPr>
              <a:spcBef>
                <a:spcPts val="200"/>
              </a:spcBef>
            </a:pPr>
            <a:r>
              <a:rPr sz="1300" b="1">
                <a:solidFill>
                  <a:srgbClr val="64748B"/>
                </a:solidFill>
                <a:latin typeface="Yu Gothic"/>
              </a:rPr>
              <a:t>アコーディオンを開くと、採用されたFAQの詳細を確認できます。</a:t>
            </a:r>
          </a:p>
        </p:txBody>
      </p:sp>
      <p:sp>
        <p:nvSpPr>
          <p:cNvPr id="10" name="Oval 9"/>
          <p:cNvSpPr/>
          <p:nvPr/>
        </p:nvSpPr>
        <p:spPr>
          <a:xfrm>
            <a:off x="640080" y="1934046"/>
            <a:ext cx="384048" cy="38404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1" name="TextBox 10"/>
          <p:cNvSpPr txBox="1"/>
          <p:nvPr/>
        </p:nvSpPr>
        <p:spPr>
          <a:xfrm>
            <a:off x="1143000" y="1888326"/>
            <a:ext cx="3474719" cy="756617"/>
          </a:xfrm>
          <a:prstGeom prst="rect">
            <a:avLst/>
          </a:prstGeom>
          <a:noFill/>
        </p:spPr>
        <p:txBody>
          <a:bodyPr wrap="square">
            <a:spAutoFit/>
          </a:bodyPr>
          <a:lstStyle/>
          <a:p>
            <a:r>
              <a:rPr sz="1550" b="1">
                <a:solidFill>
                  <a:srgbClr val="1F2937"/>
                </a:solidFill>
                <a:latin typeface="Yu Gothic"/>
              </a:rPr>
              <a:t>一致度とFAQ本文を確認</a:t>
            </a:r>
          </a:p>
          <a:p>
            <a:pPr>
              <a:spcBef>
                <a:spcPts val="200"/>
              </a:spcBef>
            </a:pPr>
            <a:r>
              <a:rPr sz="1300" b="1">
                <a:solidFill>
                  <a:srgbClr val="64748B"/>
                </a:solidFill>
                <a:latin typeface="Yu Gothic"/>
              </a:rPr>
              <a:t>質問文・回答文・カテゴリ・表示形式を確認でき、回答の妥当性を把握できます。</a:t>
            </a:r>
          </a:p>
        </p:txBody>
      </p:sp>
      <p:sp>
        <p:nvSpPr>
          <p:cNvPr id="12" name="Oval 11"/>
          <p:cNvSpPr/>
          <p:nvPr/>
        </p:nvSpPr>
        <p:spPr>
          <a:xfrm>
            <a:off x="640080" y="2720430"/>
            <a:ext cx="384048" cy="384048"/>
          </a:xfrm>
          <a:prstGeom prst="ellipse">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3" name="TextBox 12"/>
          <p:cNvSpPr txBox="1"/>
          <p:nvPr/>
        </p:nvSpPr>
        <p:spPr>
          <a:xfrm>
            <a:off x="1143000" y="2674710"/>
            <a:ext cx="3474719" cy="756617"/>
          </a:xfrm>
          <a:prstGeom prst="rect">
            <a:avLst/>
          </a:prstGeom>
          <a:noFill/>
        </p:spPr>
        <p:txBody>
          <a:bodyPr wrap="square">
            <a:spAutoFit/>
          </a:bodyPr>
          <a:lstStyle/>
          <a:p>
            <a:r>
              <a:rPr sz="1550" b="1">
                <a:solidFill>
                  <a:srgbClr val="1F2937"/>
                </a:solidFill>
                <a:latin typeface="Yu Gothic"/>
              </a:rPr>
              <a:t>迷ったときの確認に便利</a:t>
            </a:r>
          </a:p>
          <a:p>
            <a:pPr>
              <a:spcBef>
                <a:spcPts val="200"/>
              </a:spcBef>
            </a:pPr>
            <a:r>
              <a:rPr sz="1300" b="1">
                <a:solidFill>
                  <a:srgbClr val="64748B"/>
                </a:solidFill>
                <a:latin typeface="Yu Gothic"/>
              </a:rPr>
              <a:t>重要な申請や社内ルールの確認時に、根拠をあわせて確認できます。</a:t>
            </a:r>
          </a:p>
        </p:txBody>
      </p:sp>
      <p:sp>
        <p:nvSpPr>
          <p:cNvPr id="14" name="Rounded Rectangle 13"/>
          <p:cNvSpPr/>
          <p:nvPr/>
        </p:nvSpPr>
        <p:spPr>
          <a:xfrm>
            <a:off x="658368" y="4092030"/>
            <a:ext cx="4069080" cy="1051560"/>
          </a:xfrm>
          <a:prstGeom prst="roundRect">
            <a:avLst/>
          </a:prstGeom>
          <a:solidFill>
            <a:srgbClr val="F0FDFA"/>
          </a:solidFill>
          <a:ln>
            <a:solidFill>
              <a:srgbClr val="14B8A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5" name="TextBox 14"/>
          <p:cNvSpPr txBox="1"/>
          <p:nvPr/>
        </p:nvSpPr>
        <p:spPr>
          <a:xfrm>
            <a:off x="822960" y="4201758"/>
            <a:ext cx="3739896" cy="795089"/>
          </a:xfrm>
          <a:prstGeom prst="rect">
            <a:avLst/>
          </a:prstGeom>
          <a:noFill/>
        </p:spPr>
        <p:txBody>
          <a:bodyPr wrap="square">
            <a:spAutoFit/>
          </a:bodyPr>
          <a:lstStyle/>
          <a:p>
            <a:r>
              <a:rPr sz="1600" b="1">
                <a:solidFill>
                  <a:srgbClr val="1F2937"/>
                </a:solidFill>
                <a:latin typeface="Yu Gothic"/>
              </a:rPr>
              <a:t>使いどころ</a:t>
            </a:r>
          </a:p>
          <a:p>
            <a:pPr>
              <a:spcBef>
                <a:spcPts val="200"/>
              </a:spcBef>
              <a:spcAft>
                <a:spcPts val="400"/>
              </a:spcAft>
            </a:pPr>
            <a:r>
              <a:rPr sz="1400" b="1">
                <a:solidFill>
                  <a:srgbClr val="1F2937"/>
                </a:solidFill>
                <a:latin typeface="Yu Gothic"/>
              </a:rPr>
              <a:t>「なぜこの回答になったか知りたい」ときに確認します。</a:t>
            </a:r>
          </a:p>
        </p:txBody>
      </p:sp>
      <p:sp>
        <p:nvSpPr>
          <p:cNvPr id="16" name="Rectangle 15"/>
          <p:cNvSpPr/>
          <p:nvPr/>
        </p:nvSpPr>
        <p:spPr>
          <a:xfrm>
            <a:off x="411480" y="6464808"/>
            <a:ext cx="11384280" cy="9144"/>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7" name="TextBox 16"/>
          <p:cNvSpPr txBox="1"/>
          <p:nvPr/>
        </p:nvSpPr>
        <p:spPr>
          <a:xfrm>
            <a:off x="502920" y="6501384"/>
            <a:ext cx="2255746" cy="223138"/>
          </a:xfrm>
          <a:prstGeom prst="rect">
            <a:avLst/>
          </a:prstGeom>
          <a:noFill/>
        </p:spPr>
        <p:txBody>
          <a:bodyPr wrap="none">
            <a:spAutoFit/>
          </a:bodyPr>
          <a:lstStyle/>
          <a:p>
            <a:r>
              <a:rPr sz="850" b="1">
                <a:solidFill>
                  <a:srgbClr val="64748B"/>
                </a:solidFill>
                <a:latin typeface="Yu Gothic"/>
              </a:rPr>
              <a:t>本資料は利用者向けの画面説明資料です。</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8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 name="TextBox 2"/>
          <p:cNvSpPr txBox="1"/>
          <p:nvPr/>
        </p:nvSpPr>
        <p:spPr>
          <a:xfrm>
            <a:off x="502920" y="109728"/>
            <a:ext cx="4852610" cy="492443"/>
          </a:xfrm>
          <a:prstGeom prst="rect">
            <a:avLst/>
          </a:prstGeom>
          <a:noFill/>
        </p:spPr>
        <p:txBody>
          <a:bodyPr wrap="none">
            <a:spAutoFit/>
          </a:bodyPr>
          <a:lstStyle/>
          <a:p>
            <a:r>
              <a:rPr sz="2600" b="1">
                <a:solidFill>
                  <a:srgbClr val="FFFFFF"/>
                </a:solidFill>
                <a:latin typeface="Yu Gothic"/>
              </a:rPr>
              <a:t>一致度が低い場合：候補を表示</a:t>
            </a:r>
          </a:p>
        </p:txBody>
      </p:sp>
      <p:sp>
        <p:nvSpPr>
          <p:cNvPr id="4" name="TextBox 3"/>
          <p:cNvSpPr txBox="1"/>
          <p:nvPr/>
        </p:nvSpPr>
        <p:spPr>
          <a:xfrm>
            <a:off x="530352" y="485380"/>
            <a:ext cx="2752677" cy="238527"/>
          </a:xfrm>
          <a:prstGeom prst="rect">
            <a:avLst/>
          </a:prstGeom>
          <a:noFill/>
        </p:spPr>
        <p:txBody>
          <a:bodyPr wrap="none">
            <a:spAutoFit/>
          </a:bodyPr>
          <a:lstStyle/>
          <a:p>
            <a:r>
              <a:rPr sz="950" b="1" dirty="0" err="1">
                <a:solidFill>
                  <a:srgbClr val="C8D7EB"/>
                </a:solidFill>
                <a:latin typeface="Yu Gothic"/>
              </a:rPr>
              <a:t>情シス問い合わせAI</a:t>
            </a:r>
            <a:r>
              <a:rPr sz="950" b="1" dirty="0">
                <a:solidFill>
                  <a:srgbClr val="C8D7EB"/>
                </a:solidFill>
                <a:latin typeface="Yu Gothic"/>
              </a:rPr>
              <a:t> / </a:t>
            </a:r>
            <a:r>
              <a:rPr sz="950" b="1" dirty="0" err="1">
                <a:solidFill>
                  <a:srgbClr val="C8D7EB"/>
                </a:solidFill>
                <a:latin typeface="Yu Gothic"/>
              </a:rPr>
              <a:t>ユーザー向け操作ガイド</a:t>
            </a:r>
            <a:endParaRPr sz="950" b="1" dirty="0">
              <a:solidFill>
                <a:srgbClr val="C8D7EB"/>
              </a:solidFill>
              <a:latin typeface="Yu Gothic"/>
            </a:endParaRPr>
          </a:p>
        </p:txBody>
      </p:sp>
      <p:sp>
        <p:nvSpPr>
          <p:cNvPr id="5" name="Rounded Rectangle 4"/>
          <p:cNvSpPr/>
          <p:nvPr/>
        </p:nvSpPr>
        <p:spPr>
          <a:xfrm>
            <a:off x="11109960" y="128016"/>
            <a:ext cx="68580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06</a:t>
            </a:r>
          </a:p>
        </p:txBody>
      </p:sp>
      <p:sp>
        <p:nvSpPr>
          <p:cNvPr id="7" name="Rounded Rectangle 6"/>
          <p:cNvSpPr/>
          <p:nvPr/>
        </p:nvSpPr>
        <p:spPr>
          <a:xfrm>
            <a:off x="4617721" y="1097280"/>
            <a:ext cx="7288140" cy="4372117"/>
          </a:xfrm>
          <a:prstGeom prst="roundRect">
            <a:avLst/>
          </a:prstGeom>
          <a:noFill/>
          <a:ln w="15240">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pic>
        <p:nvPicPr>
          <p:cNvPr id="6" name="Picture 5" descr="517e0b5d-faaa-5cbb-a890-352842fb4f4a.png"/>
          <p:cNvPicPr>
            <a:picLocks noChangeAspect="1"/>
          </p:cNvPicPr>
          <p:nvPr/>
        </p:nvPicPr>
        <p:blipFill>
          <a:blip r:embed="rId2"/>
          <a:stretch>
            <a:fillRect/>
          </a:stretch>
        </p:blipFill>
        <p:spPr>
          <a:xfrm>
            <a:off x="4800600" y="1619488"/>
            <a:ext cx="6812280" cy="3619023"/>
          </a:xfrm>
          <a:prstGeom prst="rect">
            <a:avLst/>
          </a:prstGeom>
        </p:spPr>
      </p:pic>
      <p:sp>
        <p:nvSpPr>
          <p:cNvPr id="8" name="Oval 7"/>
          <p:cNvSpPr/>
          <p:nvPr/>
        </p:nvSpPr>
        <p:spPr>
          <a:xfrm>
            <a:off x="621792" y="1213534"/>
            <a:ext cx="384048" cy="384048"/>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9" name="TextBox 8"/>
          <p:cNvSpPr txBox="1"/>
          <p:nvPr/>
        </p:nvSpPr>
        <p:spPr>
          <a:xfrm>
            <a:off x="1124712" y="1167814"/>
            <a:ext cx="3291840" cy="756617"/>
          </a:xfrm>
          <a:prstGeom prst="rect">
            <a:avLst/>
          </a:prstGeom>
          <a:noFill/>
        </p:spPr>
        <p:txBody>
          <a:bodyPr wrap="square">
            <a:spAutoFit/>
          </a:bodyPr>
          <a:lstStyle/>
          <a:p>
            <a:r>
              <a:rPr sz="1550" b="1">
                <a:solidFill>
                  <a:srgbClr val="1F2937"/>
                </a:solidFill>
                <a:latin typeface="Yu Gothic"/>
              </a:rPr>
              <a:t>低い一致度を明示</a:t>
            </a:r>
          </a:p>
          <a:p>
            <a:pPr>
              <a:spcBef>
                <a:spcPts val="200"/>
              </a:spcBef>
            </a:pPr>
            <a:r>
              <a:rPr sz="1300" b="1">
                <a:solidFill>
                  <a:srgbClr val="64748B"/>
                </a:solidFill>
                <a:latin typeface="Yu Gothic"/>
              </a:rPr>
              <a:t>確信度が低い場合は「参考候補」として表示され、誤回答を避けます。</a:t>
            </a:r>
          </a:p>
        </p:txBody>
      </p:sp>
      <p:sp>
        <p:nvSpPr>
          <p:cNvPr id="10" name="Oval 9"/>
          <p:cNvSpPr/>
          <p:nvPr/>
        </p:nvSpPr>
        <p:spPr>
          <a:xfrm>
            <a:off x="621792" y="1999918"/>
            <a:ext cx="384048" cy="384048"/>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1" name="TextBox 10"/>
          <p:cNvSpPr txBox="1"/>
          <p:nvPr/>
        </p:nvSpPr>
        <p:spPr>
          <a:xfrm>
            <a:off x="1124712" y="1954198"/>
            <a:ext cx="3291840" cy="756617"/>
          </a:xfrm>
          <a:prstGeom prst="rect">
            <a:avLst/>
          </a:prstGeom>
          <a:noFill/>
        </p:spPr>
        <p:txBody>
          <a:bodyPr wrap="square">
            <a:spAutoFit/>
          </a:bodyPr>
          <a:lstStyle/>
          <a:p>
            <a:r>
              <a:rPr sz="1550" b="1">
                <a:solidFill>
                  <a:srgbClr val="1F2937"/>
                </a:solidFill>
                <a:latin typeface="Yu Gothic"/>
              </a:rPr>
              <a:t>近いFAQ候補を一覧表示</a:t>
            </a:r>
          </a:p>
          <a:p>
            <a:pPr>
              <a:spcBef>
                <a:spcPts val="200"/>
              </a:spcBef>
            </a:pPr>
            <a:r>
              <a:rPr sz="1300" b="1">
                <a:solidFill>
                  <a:srgbClr val="64748B"/>
                </a:solidFill>
                <a:latin typeface="Yu Gothic"/>
              </a:rPr>
              <a:t>AIが入力内容に近いFAQを複数提示します。</a:t>
            </a:r>
          </a:p>
        </p:txBody>
      </p:sp>
      <p:sp>
        <p:nvSpPr>
          <p:cNvPr id="12" name="Oval 11"/>
          <p:cNvSpPr/>
          <p:nvPr/>
        </p:nvSpPr>
        <p:spPr>
          <a:xfrm>
            <a:off x="621792" y="2786302"/>
            <a:ext cx="384048" cy="384048"/>
          </a:xfrm>
          <a:prstGeom prst="ellipse">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3" name="TextBox 12"/>
          <p:cNvSpPr txBox="1"/>
          <p:nvPr/>
        </p:nvSpPr>
        <p:spPr>
          <a:xfrm>
            <a:off x="1124712" y="2740582"/>
            <a:ext cx="3291840" cy="756617"/>
          </a:xfrm>
          <a:prstGeom prst="rect">
            <a:avLst/>
          </a:prstGeom>
          <a:noFill/>
        </p:spPr>
        <p:txBody>
          <a:bodyPr wrap="square">
            <a:spAutoFit/>
          </a:bodyPr>
          <a:lstStyle/>
          <a:p>
            <a:r>
              <a:rPr sz="1550" b="1">
                <a:solidFill>
                  <a:srgbClr val="1F2937"/>
                </a:solidFill>
                <a:latin typeface="Yu Gothic"/>
              </a:rPr>
              <a:t>一番近い回答も参考表示</a:t>
            </a:r>
          </a:p>
          <a:p>
            <a:pPr>
              <a:spcBef>
                <a:spcPts val="200"/>
              </a:spcBef>
            </a:pPr>
            <a:r>
              <a:rPr sz="1300" b="1">
                <a:solidFill>
                  <a:srgbClr val="64748B"/>
                </a:solidFill>
                <a:latin typeface="Yu Gothic"/>
              </a:rPr>
              <a:t>最も近い候補の回答を参考として確認できます。</a:t>
            </a:r>
          </a:p>
        </p:txBody>
      </p:sp>
      <p:sp>
        <p:nvSpPr>
          <p:cNvPr id="14" name="Rounded Rectangle 13"/>
          <p:cNvSpPr/>
          <p:nvPr/>
        </p:nvSpPr>
        <p:spPr>
          <a:xfrm>
            <a:off x="640080" y="4370832"/>
            <a:ext cx="3867539" cy="1005840"/>
          </a:xfrm>
          <a:prstGeom prst="roundRect">
            <a:avLst/>
          </a:prstGeom>
          <a:solidFill>
            <a:srgbClr val="FFF7ED"/>
          </a:solidFill>
          <a:ln>
            <a:solidFill>
              <a:srgbClr val="F9731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5" name="TextBox 14"/>
          <p:cNvSpPr txBox="1"/>
          <p:nvPr/>
        </p:nvSpPr>
        <p:spPr>
          <a:xfrm>
            <a:off x="804672" y="4480560"/>
            <a:ext cx="3694176" cy="795089"/>
          </a:xfrm>
          <a:prstGeom prst="rect">
            <a:avLst/>
          </a:prstGeom>
          <a:noFill/>
        </p:spPr>
        <p:txBody>
          <a:bodyPr wrap="square">
            <a:spAutoFit/>
          </a:bodyPr>
          <a:lstStyle/>
          <a:p>
            <a:r>
              <a:rPr sz="1600" b="1" dirty="0" err="1">
                <a:solidFill>
                  <a:srgbClr val="1F2937"/>
                </a:solidFill>
                <a:latin typeface="Yu Gothic"/>
              </a:rPr>
              <a:t>このときの操作</a:t>
            </a:r>
            <a:endParaRPr sz="1600" b="1" dirty="0">
              <a:solidFill>
                <a:srgbClr val="1F2937"/>
              </a:solidFill>
              <a:latin typeface="Yu Gothic"/>
            </a:endParaRPr>
          </a:p>
          <a:p>
            <a:pPr>
              <a:spcBef>
                <a:spcPts val="200"/>
              </a:spcBef>
              <a:spcAft>
                <a:spcPts val="400"/>
              </a:spcAft>
            </a:pPr>
            <a:r>
              <a:rPr sz="1400" b="1" dirty="0" err="1">
                <a:solidFill>
                  <a:srgbClr val="1F2937"/>
                </a:solidFill>
                <a:latin typeface="Yu Gothic"/>
              </a:rPr>
              <a:t>候補が近ければ内容を確認し、違う場合は別の言い方で入力します</a:t>
            </a:r>
            <a:r>
              <a:rPr sz="1400" b="1" dirty="0">
                <a:solidFill>
                  <a:srgbClr val="1F2937"/>
                </a:solidFill>
                <a:latin typeface="Yu Gothic"/>
              </a:rPr>
              <a:t>。</a:t>
            </a:r>
          </a:p>
        </p:txBody>
      </p:sp>
      <p:sp>
        <p:nvSpPr>
          <p:cNvPr id="16" name="Rectangle 15"/>
          <p:cNvSpPr/>
          <p:nvPr/>
        </p:nvSpPr>
        <p:spPr>
          <a:xfrm>
            <a:off x="411480" y="6464808"/>
            <a:ext cx="11384280" cy="9144"/>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7" name="TextBox 16"/>
          <p:cNvSpPr txBox="1"/>
          <p:nvPr/>
        </p:nvSpPr>
        <p:spPr>
          <a:xfrm>
            <a:off x="502920" y="6501384"/>
            <a:ext cx="2255746" cy="223138"/>
          </a:xfrm>
          <a:prstGeom prst="rect">
            <a:avLst/>
          </a:prstGeom>
          <a:noFill/>
        </p:spPr>
        <p:txBody>
          <a:bodyPr wrap="none">
            <a:spAutoFit/>
          </a:bodyPr>
          <a:lstStyle/>
          <a:p>
            <a:r>
              <a:rPr sz="850" b="1">
                <a:solidFill>
                  <a:srgbClr val="64748B"/>
                </a:solidFill>
                <a:latin typeface="Yu Gothic"/>
              </a:rPr>
              <a:t>本資料は利用者向けの画面説明資料です。</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8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 name="TextBox 2"/>
          <p:cNvSpPr txBox="1"/>
          <p:nvPr/>
        </p:nvSpPr>
        <p:spPr>
          <a:xfrm>
            <a:off x="502920" y="109728"/>
            <a:ext cx="4185761" cy="492443"/>
          </a:xfrm>
          <a:prstGeom prst="rect">
            <a:avLst/>
          </a:prstGeom>
          <a:noFill/>
        </p:spPr>
        <p:txBody>
          <a:bodyPr wrap="none">
            <a:spAutoFit/>
          </a:bodyPr>
          <a:lstStyle/>
          <a:p>
            <a:r>
              <a:rPr sz="2600" b="1">
                <a:solidFill>
                  <a:srgbClr val="FFFFFF"/>
                </a:solidFill>
                <a:latin typeface="Yu Gothic"/>
              </a:rPr>
              <a:t>候補ボタンから再検索する</a:t>
            </a:r>
          </a:p>
        </p:txBody>
      </p:sp>
      <p:sp>
        <p:nvSpPr>
          <p:cNvPr id="4" name="TextBox 3"/>
          <p:cNvSpPr txBox="1"/>
          <p:nvPr/>
        </p:nvSpPr>
        <p:spPr>
          <a:xfrm>
            <a:off x="530352" y="476049"/>
            <a:ext cx="2752677" cy="238527"/>
          </a:xfrm>
          <a:prstGeom prst="rect">
            <a:avLst/>
          </a:prstGeom>
          <a:noFill/>
        </p:spPr>
        <p:txBody>
          <a:bodyPr wrap="none">
            <a:spAutoFit/>
          </a:bodyPr>
          <a:lstStyle/>
          <a:p>
            <a:r>
              <a:rPr sz="950" b="1" dirty="0" err="1">
                <a:solidFill>
                  <a:srgbClr val="C8D7EB"/>
                </a:solidFill>
                <a:latin typeface="Yu Gothic"/>
              </a:rPr>
              <a:t>情シス問い合わせAI</a:t>
            </a:r>
            <a:r>
              <a:rPr sz="950" b="1" dirty="0">
                <a:solidFill>
                  <a:srgbClr val="C8D7EB"/>
                </a:solidFill>
                <a:latin typeface="Yu Gothic"/>
              </a:rPr>
              <a:t> / </a:t>
            </a:r>
            <a:r>
              <a:rPr sz="950" b="1" dirty="0" err="1">
                <a:solidFill>
                  <a:srgbClr val="C8D7EB"/>
                </a:solidFill>
                <a:latin typeface="Yu Gothic"/>
              </a:rPr>
              <a:t>ユーザー向け操作ガイド</a:t>
            </a:r>
            <a:endParaRPr sz="950" b="1" dirty="0">
              <a:solidFill>
                <a:srgbClr val="C8D7EB"/>
              </a:solidFill>
              <a:latin typeface="Yu Gothic"/>
            </a:endParaRPr>
          </a:p>
        </p:txBody>
      </p:sp>
      <p:sp>
        <p:nvSpPr>
          <p:cNvPr id="5" name="Rounded Rectangle 4"/>
          <p:cNvSpPr/>
          <p:nvPr/>
        </p:nvSpPr>
        <p:spPr>
          <a:xfrm>
            <a:off x="11109960" y="128016"/>
            <a:ext cx="68580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07</a:t>
            </a:r>
          </a:p>
        </p:txBody>
      </p:sp>
      <p:sp>
        <p:nvSpPr>
          <p:cNvPr id="7" name="Rounded Rectangle 6"/>
          <p:cNvSpPr/>
          <p:nvPr/>
        </p:nvSpPr>
        <p:spPr>
          <a:xfrm>
            <a:off x="4681728" y="1051560"/>
            <a:ext cx="6885432" cy="4754880"/>
          </a:xfrm>
          <a:prstGeom prst="roundRect">
            <a:avLst/>
          </a:prstGeom>
          <a:noFill/>
          <a:ln w="15240">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pic>
        <p:nvPicPr>
          <p:cNvPr id="6" name="Picture 5" descr="2bf29e18-e956-5fd9-b376-cd4a3ed315dd.png"/>
          <p:cNvPicPr>
            <a:picLocks noChangeAspect="1"/>
          </p:cNvPicPr>
          <p:nvPr/>
        </p:nvPicPr>
        <p:blipFill>
          <a:blip r:embed="rId2"/>
          <a:stretch>
            <a:fillRect/>
          </a:stretch>
        </p:blipFill>
        <p:spPr>
          <a:xfrm>
            <a:off x="4846320" y="1643776"/>
            <a:ext cx="6621002" cy="3570446"/>
          </a:xfrm>
          <a:prstGeom prst="rect">
            <a:avLst/>
          </a:prstGeom>
        </p:spPr>
      </p:pic>
      <p:sp>
        <p:nvSpPr>
          <p:cNvPr id="8" name="Oval 7"/>
          <p:cNvSpPr/>
          <p:nvPr/>
        </p:nvSpPr>
        <p:spPr>
          <a:xfrm>
            <a:off x="640080" y="1202712"/>
            <a:ext cx="384048" cy="384048"/>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1</a:t>
            </a:r>
          </a:p>
        </p:txBody>
      </p:sp>
      <p:sp>
        <p:nvSpPr>
          <p:cNvPr id="9" name="TextBox 8"/>
          <p:cNvSpPr txBox="1"/>
          <p:nvPr/>
        </p:nvSpPr>
        <p:spPr>
          <a:xfrm>
            <a:off x="1143000" y="1156992"/>
            <a:ext cx="3291840" cy="756617"/>
          </a:xfrm>
          <a:prstGeom prst="rect">
            <a:avLst/>
          </a:prstGeom>
          <a:noFill/>
        </p:spPr>
        <p:txBody>
          <a:bodyPr wrap="square">
            <a:spAutoFit/>
          </a:bodyPr>
          <a:lstStyle/>
          <a:p>
            <a:r>
              <a:rPr sz="1550" b="1">
                <a:solidFill>
                  <a:srgbClr val="1F2937"/>
                </a:solidFill>
                <a:latin typeface="Yu Gothic"/>
              </a:rPr>
              <a:t>近い候補を押す</a:t>
            </a:r>
          </a:p>
          <a:p>
            <a:pPr>
              <a:spcBef>
                <a:spcPts val="200"/>
              </a:spcBef>
            </a:pPr>
            <a:r>
              <a:rPr sz="1300" b="1">
                <a:solidFill>
                  <a:srgbClr val="64748B"/>
                </a:solidFill>
                <a:latin typeface="Yu Gothic"/>
              </a:rPr>
              <a:t>候補ボタンを押すと、そのFAQ名をもとに再検索します。</a:t>
            </a:r>
          </a:p>
        </p:txBody>
      </p:sp>
      <p:sp>
        <p:nvSpPr>
          <p:cNvPr id="10" name="Oval 9"/>
          <p:cNvSpPr/>
          <p:nvPr/>
        </p:nvSpPr>
        <p:spPr>
          <a:xfrm>
            <a:off x="640080" y="1989096"/>
            <a:ext cx="384048" cy="384048"/>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2</a:t>
            </a:r>
          </a:p>
        </p:txBody>
      </p:sp>
      <p:sp>
        <p:nvSpPr>
          <p:cNvPr id="11" name="TextBox 10"/>
          <p:cNvSpPr txBox="1"/>
          <p:nvPr/>
        </p:nvSpPr>
        <p:spPr>
          <a:xfrm>
            <a:off x="1143000" y="1943376"/>
            <a:ext cx="3291840" cy="756617"/>
          </a:xfrm>
          <a:prstGeom prst="rect">
            <a:avLst/>
          </a:prstGeom>
          <a:noFill/>
        </p:spPr>
        <p:txBody>
          <a:bodyPr wrap="square">
            <a:spAutoFit/>
          </a:bodyPr>
          <a:lstStyle/>
          <a:p>
            <a:r>
              <a:rPr sz="1550" b="1">
                <a:solidFill>
                  <a:srgbClr val="1F2937"/>
                </a:solidFill>
                <a:latin typeface="Yu Gothic"/>
              </a:rPr>
              <a:t>候補が違う場合は再入力</a:t>
            </a:r>
          </a:p>
          <a:p>
            <a:pPr>
              <a:spcBef>
                <a:spcPts val="200"/>
              </a:spcBef>
            </a:pPr>
            <a:r>
              <a:rPr sz="1300" b="1">
                <a:solidFill>
                  <a:srgbClr val="64748B"/>
                </a:solidFill>
                <a:latin typeface="Yu Gothic"/>
              </a:rPr>
              <a:t>より具体的な言い方にして、再度入力してください。</a:t>
            </a:r>
          </a:p>
        </p:txBody>
      </p:sp>
      <p:sp>
        <p:nvSpPr>
          <p:cNvPr id="12" name="Oval 11"/>
          <p:cNvSpPr/>
          <p:nvPr/>
        </p:nvSpPr>
        <p:spPr>
          <a:xfrm>
            <a:off x="640080" y="2775480"/>
            <a:ext cx="384048" cy="384048"/>
          </a:xfrm>
          <a:prstGeom prst="ellipse">
            <a:avLst/>
          </a:prstGeom>
          <a:solidFill>
            <a:srgbClr val="06B6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600" b="1">
                <a:solidFill>
                  <a:srgbClr val="FFFFFF"/>
                </a:solidFill>
                <a:latin typeface="Arial"/>
              </a:rPr>
              <a:t>3</a:t>
            </a:r>
          </a:p>
        </p:txBody>
      </p:sp>
      <p:sp>
        <p:nvSpPr>
          <p:cNvPr id="13" name="TextBox 12"/>
          <p:cNvSpPr txBox="1"/>
          <p:nvPr/>
        </p:nvSpPr>
        <p:spPr>
          <a:xfrm>
            <a:off x="1143000" y="2729760"/>
            <a:ext cx="3291840" cy="756617"/>
          </a:xfrm>
          <a:prstGeom prst="rect">
            <a:avLst/>
          </a:prstGeom>
          <a:noFill/>
        </p:spPr>
        <p:txBody>
          <a:bodyPr wrap="square">
            <a:spAutoFit/>
          </a:bodyPr>
          <a:lstStyle/>
          <a:p>
            <a:r>
              <a:rPr sz="1550" b="1" dirty="0" err="1">
                <a:solidFill>
                  <a:srgbClr val="1F2937"/>
                </a:solidFill>
                <a:latin typeface="Yu Gothic"/>
              </a:rPr>
              <a:t>入力欄は下部に固定</a:t>
            </a:r>
            <a:endParaRPr sz="1550" b="1" dirty="0">
              <a:solidFill>
                <a:srgbClr val="1F2937"/>
              </a:solidFill>
              <a:latin typeface="Yu Gothic"/>
            </a:endParaRPr>
          </a:p>
          <a:p>
            <a:pPr>
              <a:spcBef>
                <a:spcPts val="200"/>
              </a:spcBef>
            </a:pPr>
            <a:r>
              <a:rPr sz="1300" b="1" dirty="0" err="1">
                <a:solidFill>
                  <a:srgbClr val="64748B"/>
                </a:solidFill>
                <a:latin typeface="Yu Gothic"/>
              </a:rPr>
              <a:t>候補を確認したあとも、すぐ続けて質問できます</a:t>
            </a:r>
            <a:r>
              <a:rPr sz="1300" b="1" dirty="0">
                <a:solidFill>
                  <a:srgbClr val="64748B"/>
                </a:solidFill>
                <a:latin typeface="Yu Gothic"/>
              </a:rPr>
              <a:t>。</a:t>
            </a:r>
          </a:p>
        </p:txBody>
      </p:sp>
      <p:sp>
        <p:nvSpPr>
          <p:cNvPr id="14" name="Rounded Rectangle 13"/>
          <p:cNvSpPr/>
          <p:nvPr/>
        </p:nvSpPr>
        <p:spPr>
          <a:xfrm>
            <a:off x="658368" y="4343400"/>
            <a:ext cx="4023360" cy="1051560"/>
          </a:xfrm>
          <a:prstGeom prst="roundRect">
            <a:avLst/>
          </a:prstGeom>
          <a:solidFill>
            <a:srgbClr val="ECFEFF"/>
          </a:solidFill>
          <a:ln>
            <a:solidFill>
              <a:srgbClr val="06B6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5" name="TextBox 14"/>
          <p:cNvSpPr txBox="1"/>
          <p:nvPr/>
        </p:nvSpPr>
        <p:spPr>
          <a:xfrm>
            <a:off x="822960" y="4453128"/>
            <a:ext cx="3739896" cy="795089"/>
          </a:xfrm>
          <a:prstGeom prst="rect">
            <a:avLst/>
          </a:prstGeom>
          <a:noFill/>
        </p:spPr>
        <p:txBody>
          <a:bodyPr wrap="square">
            <a:spAutoFit/>
          </a:bodyPr>
          <a:lstStyle/>
          <a:p>
            <a:r>
              <a:rPr sz="1600" b="1" dirty="0" err="1">
                <a:solidFill>
                  <a:srgbClr val="1F2937"/>
                </a:solidFill>
                <a:latin typeface="Yu Gothic"/>
              </a:rPr>
              <a:t>入力の言い換え例</a:t>
            </a:r>
            <a:endParaRPr sz="1600" b="1" dirty="0">
              <a:solidFill>
                <a:srgbClr val="1F2937"/>
              </a:solidFill>
              <a:latin typeface="Yu Gothic"/>
            </a:endParaRPr>
          </a:p>
          <a:p>
            <a:pPr>
              <a:spcBef>
                <a:spcPts val="200"/>
              </a:spcBef>
              <a:spcAft>
                <a:spcPts val="400"/>
              </a:spcAft>
            </a:pPr>
            <a:r>
              <a:rPr sz="1400" b="1" dirty="0">
                <a:solidFill>
                  <a:srgbClr val="1F2937"/>
                </a:solidFill>
                <a:latin typeface="Yu Gothic"/>
              </a:rPr>
              <a:t>×「</a:t>
            </a:r>
            <a:r>
              <a:rPr sz="1400" b="1" dirty="0" err="1">
                <a:solidFill>
                  <a:srgbClr val="1F2937"/>
                </a:solidFill>
                <a:latin typeface="Yu Gothic"/>
              </a:rPr>
              <a:t>減った</a:t>
            </a:r>
            <a:r>
              <a:rPr sz="1400" b="1" dirty="0">
                <a:solidFill>
                  <a:srgbClr val="1F2937"/>
                </a:solidFill>
                <a:latin typeface="Yu Gothic"/>
              </a:rPr>
              <a:t>」 → ○「</a:t>
            </a:r>
            <a:r>
              <a:rPr sz="1400" b="1" dirty="0" err="1">
                <a:solidFill>
                  <a:srgbClr val="1F2937"/>
                </a:solidFill>
                <a:latin typeface="Yu Gothic"/>
              </a:rPr>
              <a:t>複合機の印刷ジョブが残ったままです</a:t>
            </a:r>
            <a:r>
              <a:rPr sz="1400" b="1" dirty="0">
                <a:solidFill>
                  <a:srgbClr val="1F2937"/>
                </a:solidFill>
                <a:latin typeface="Yu Gothic"/>
              </a:rPr>
              <a:t>」</a:t>
            </a:r>
          </a:p>
        </p:txBody>
      </p:sp>
      <p:sp>
        <p:nvSpPr>
          <p:cNvPr id="16" name="Rectangle 15"/>
          <p:cNvSpPr/>
          <p:nvPr/>
        </p:nvSpPr>
        <p:spPr>
          <a:xfrm>
            <a:off x="411480" y="6464808"/>
            <a:ext cx="11384280" cy="9144"/>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7" name="TextBox 16"/>
          <p:cNvSpPr txBox="1"/>
          <p:nvPr/>
        </p:nvSpPr>
        <p:spPr>
          <a:xfrm>
            <a:off x="502920" y="6501384"/>
            <a:ext cx="2255746" cy="223138"/>
          </a:xfrm>
          <a:prstGeom prst="rect">
            <a:avLst/>
          </a:prstGeom>
          <a:noFill/>
        </p:spPr>
        <p:txBody>
          <a:bodyPr wrap="none">
            <a:spAutoFit/>
          </a:bodyPr>
          <a:lstStyle/>
          <a:p>
            <a:r>
              <a:rPr sz="850" b="1">
                <a:solidFill>
                  <a:srgbClr val="64748B"/>
                </a:solidFill>
                <a:latin typeface="Yu Gothic"/>
              </a:rPr>
              <a:t>本資料は利用者向けの画面説明資料です。</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8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 name="TextBox 2"/>
          <p:cNvSpPr txBox="1"/>
          <p:nvPr/>
        </p:nvSpPr>
        <p:spPr>
          <a:xfrm>
            <a:off x="502920" y="109728"/>
            <a:ext cx="4852610" cy="492443"/>
          </a:xfrm>
          <a:prstGeom prst="rect">
            <a:avLst/>
          </a:prstGeom>
          <a:noFill/>
        </p:spPr>
        <p:txBody>
          <a:bodyPr wrap="none">
            <a:spAutoFit/>
          </a:bodyPr>
          <a:lstStyle/>
          <a:p>
            <a:r>
              <a:rPr sz="2600" b="1">
                <a:solidFill>
                  <a:srgbClr val="FFFFFF"/>
                </a:solidFill>
                <a:latin typeface="Yu Gothic"/>
              </a:rPr>
              <a:t>うまく見つからないときのコツ</a:t>
            </a:r>
          </a:p>
        </p:txBody>
      </p:sp>
      <p:sp>
        <p:nvSpPr>
          <p:cNvPr id="4" name="TextBox 3"/>
          <p:cNvSpPr txBox="1"/>
          <p:nvPr/>
        </p:nvSpPr>
        <p:spPr>
          <a:xfrm>
            <a:off x="530352" y="485380"/>
            <a:ext cx="2752677" cy="238527"/>
          </a:xfrm>
          <a:prstGeom prst="rect">
            <a:avLst/>
          </a:prstGeom>
          <a:noFill/>
        </p:spPr>
        <p:txBody>
          <a:bodyPr wrap="none">
            <a:spAutoFit/>
          </a:bodyPr>
          <a:lstStyle/>
          <a:p>
            <a:r>
              <a:rPr sz="950" b="1" dirty="0" err="1">
                <a:solidFill>
                  <a:srgbClr val="C8D7EB"/>
                </a:solidFill>
                <a:latin typeface="Yu Gothic"/>
              </a:rPr>
              <a:t>情シス問い合わせAI</a:t>
            </a:r>
            <a:r>
              <a:rPr sz="950" b="1" dirty="0">
                <a:solidFill>
                  <a:srgbClr val="C8D7EB"/>
                </a:solidFill>
                <a:latin typeface="Yu Gothic"/>
              </a:rPr>
              <a:t> / </a:t>
            </a:r>
            <a:r>
              <a:rPr sz="950" b="1" dirty="0" err="1">
                <a:solidFill>
                  <a:srgbClr val="C8D7EB"/>
                </a:solidFill>
                <a:latin typeface="Yu Gothic"/>
              </a:rPr>
              <a:t>ユーザー向け操作ガイド</a:t>
            </a:r>
            <a:endParaRPr sz="950" b="1" dirty="0">
              <a:solidFill>
                <a:srgbClr val="C8D7EB"/>
              </a:solidFill>
              <a:latin typeface="Yu Gothic"/>
            </a:endParaRPr>
          </a:p>
        </p:txBody>
      </p:sp>
      <p:sp>
        <p:nvSpPr>
          <p:cNvPr id="5" name="Rounded Rectangle 4"/>
          <p:cNvSpPr/>
          <p:nvPr/>
        </p:nvSpPr>
        <p:spPr>
          <a:xfrm>
            <a:off x="11109960" y="128016"/>
            <a:ext cx="68580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08</a:t>
            </a:r>
          </a:p>
        </p:txBody>
      </p:sp>
      <p:sp>
        <p:nvSpPr>
          <p:cNvPr id="6" name="Rounded Rectangle 5"/>
          <p:cNvSpPr/>
          <p:nvPr/>
        </p:nvSpPr>
        <p:spPr>
          <a:xfrm>
            <a:off x="548640" y="1069848"/>
            <a:ext cx="5349240" cy="4873752"/>
          </a:xfrm>
          <a:prstGeom prst="roundRect">
            <a:avLst/>
          </a:prstGeom>
          <a:solidFill>
            <a:srgbClr val="FAFCFF"/>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7" name="TextBox 6"/>
          <p:cNvSpPr txBox="1"/>
          <p:nvPr/>
        </p:nvSpPr>
        <p:spPr>
          <a:xfrm>
            <a:off x="713232" y="1188720"/>
            <a:ext cx="1569660" cy="369332"/>
          </a:xfrm>
          <a:prstGeom prst="rect">
            <a:avLst/>
          </a:prstGeom>
          <a:noFill/>
        </p:spPr>
        <p:txBody>
          <a:bodyPr wrap="none">
            <a:spAutoFit/>
          </a:bodyPr>
          <a:lstStyle/>
          <a:p>
            <a:r>
              <a:rPr sz="1800" b="1" dirty="0" err="1">
                <a:solidFill>
                  <a:srgbClr val="1F2937"/>
                </a:solidFill>
                <a:latin typeface="Yu Gothic"/>
              </a:rPr>
              <a:t>再入力のコツ</a:t>
            </a:r>
            <a:endParaRPr sz="1800" b="1" dirty="0">
              <a:solidFill>
                <a:srgbClr val="1F2937"/>
              </a:solidFill>
              <a:latin typeface="Yu Gothic"/>
            </a:endParaRPr>
          </a:p>
        </p:txBody>
      </p:sp>
      <p:sp>
        <p:nvSpPr>
          <p:cNvPr id="8" name="Rectangle 7"/>
          <p:cNvSpPr/>
          <p:nvPr/>
        </p:nvSpPr>
        <p:spPr>
          <a:xfrm>
            <a:off x="713232" y="1508760"/>
            <a:ext cx="1569660" cy="45720"/>
          </a:xfrm>
          <a:prstGeom prst="rect">
            <a:avLst/>
          </a:prstGeom>
          <a:solidFill>
            <a:srgbClr val="22C5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9" name="TextBox 8"/>
          <p:cNvSpPr txBox="1"/>
          <p:nvPr/>
        </p:nvSpPr>
        <p:spPr>
          <a:xfrm>
            <a:off x="713232" y="1627632"/>
            <a:ext cx="4882896" cy="2131353"/>
          </a:xfrm>
          <a:prstGeom prst="rect">
            <a:avLst/>
          </a:prstGeom>
          <a:noFill/>
        </p:spPr>
        <p:txBody>
          <a:bodyPr wrap="square">
            <a:spAutoFit/>
          </a:bodyPr>
          <a:lstStyle/>
          <a:p>
            <a:pPr>
              <a:spcAft>
                <a:spcPts val="500"/>
              </a:spcAft>
            </a:pPr>
            <a:r>
              <a:rPr sz="1500" b="1" dirty="0" err="1">
                <a:solidFill>
                  <a:srgbClr val="1F2937"/>
                </a:solidFill>
                <a:latin typeface="Yu Gothic"/>
              </a:rPr>
              <a:t>対象を具体化する：例「PC</a:t>
            </a:r>
            <a:r>
              <a:rPr sz="1500" b="1" dirty="0">
                <a:solidFill>
                  <a:srgbClr val="1F2937"/>
                </a:solidFill>
                <a:latin typeface="Yu Gothic"/>
              </a:rPr>
              <a:t>」「</a:t>
            </a:r>
            <a:r>
              <a:rPr sz="1500" b="1" dirty="0" err="1">
                <a:solidFill>
                  <a:srgbClr val="1F2937"/>
                </a:solidFill>
                <a:latin typeface="Yu Gothic"/>
              </a:rPr>
              <a:t>複合機</a:t>
            </a:r>
            <a:r>
              <a:rPr sz="1500" b="1" dirty="0">
                <a:solidFill>
                  <a:srgbClr val="1F2937"/>
                </a:solidFill>
                <a:latin typeface="Yu Gothic"/>
              </a:rPr>
              <a:t>」「VPN」「</a:t>
            </a:r>
            <a:r>
              <a:rPr sz="1500" b="1" dirty="0" err="1">
                <a:solidFill>
                  <a:srgbClr val="1F2937"/>
                </a:solidFill>
                <a:latin typeface="Yu Gothic"/>
              </a:rPr>
              <a:t>アカウント</a:t>
            </a:r>
            <a:r>
              <a:rPr sz="1500" b="1" dirty="0">
                <a:solidFill>
                  <a:srgbClr val="1F2937"/>
                </a:solidFill>
                <a:latin typeface="Yu Gothic"/>
              </a:rPr>
              <a:t>」「</a:t>
            </a:r>
            <a:r>
              <a:rPr sz="1500" b="1" dirty="0" err="1">
                <a:solidFill>
                  <a:srgbClr val="1F2937"/>
                </a:solidFill>
                <a:latin typeface="Yu Gothic"/>
              </a:rPr>
              <a:t>申請書</a:t>
            </a:r>
            <a:r>
              <a:rPr sz="1500" b="1" dirty="0">
                <a:solidFill>
                  <a:srgbClr val="1F2937"/>
                </a:solidFill>
                <a:latin typeface="Yu Gothic"/>
              </a:rPr>
              <a:t>」</a:t>
            </a:r>
          </a:p>
          <a:p>
            <a:pPr>
              <a:spcAft>
                <a:spcPts val="500"/>
              </a:spcAft>
            </a:pPr>
            <a:r>
              <a:rPr sz="1500" b="1" dirty="0" err="1">
                <a:solidFill>
                  <a:srgbClr val="1F2937"/>
                </a:solidFill>
                <a:latin typeface="Yu Gothic"/>
              </a:rPr>
              <a:t>症状を具体化する：例「起動しない</a:t>
            </a:r>
            <a:r>
              <a:rPr sz="1500" b="1" dirty="0">
                <a:solidFill>
                  <a:srgbClr val="1F2937"/>
                </a:solidFill>
                <a:latin typeface="Yu Gothic"/>
              </a:rPr>
              <a:t>」「</a:t>
            </a:r>
            <a:r>
              <a:rPr sz="1500" b="1" dirty="0" err="1">
                <a:solidFill>
                  <a:srgbClr val="1F2937"/>
                </a:solidFill>
                <a:latin typeface="Yu Gothic"/>
              </a:rPr>
              <a:t>印刷ジョブが残る</a:t>
            </a:r>
            <a:r>
              <a:rPr sz="1500" b="1" dirty="0">
                <a:solidFill>
                  <a:srgbClr val="1F2937"/>
                </a:solidFill>
                <a:latin typeface="Yu Gothic"/>
              </a:rPr>
              <a:t>」「</a:t>
            </a:r>
            <a:r>
              <a:rPr sz="1500" b="1" dirty="0" err="1">
                <a:solidFill>
                  <a:srgbClr val="1F2937"/>
                </a:solidFill>
                <a:latin typeface="Yu Gothic"/>
              </a:rPr>
              <a:t>接続できない</a:t>
            </a:r>
            <a:r>
              <a:rPr sz="1500" b="1" dirty="0">
                <a:solidFill>
                  <a:srgbClr val="1F2937"/>
                </a:solidFill>
                <a:latin typeface="Yu Gothic"/>
              </a:rPr>
              <a:t>」</a:t>
            </a:r>
          </a:p>
          <a:p>
            <a:pPr>
              <a:spcAft>
                <a:spcPts val="500"/>
              </a:spcAft>
            </a:pPr>
            <a:r>
              <a:rPr sz="1500" b="1" dirty="0" err="1">
                <a:solidFill>
                  <a:srgbClr val="1F2937"/>
                </a:solidFill>
                <a:latin typeface="Yu Gothic"/>
              </a:rPr>
              <a:t>必要なら状況を追加する：例「昨日から</a:t>
            </a:r>
            <a:r>
              <a:rPr sz="1500" b="1" dirty="0">
                <a:solidFill>
                  <a:srgbClr val="1F2937"/>
                </a:solidFill>
                <a:latin typeface="Yu Gothic"/>
              </a:rPr>
              <a:t>」「</a:t>
            </a:r>
            <a:r>
              <a:rPr sz="1500" b="1" dirty="0" err="1">
                <a:solidFill>
                  <a:srgbClr val="1F2937"/>
                </a:solidFill>
                <a:latin typeface="Yu Gothic"/>
              </a:rPr>
              <a:t>社外から</a:t>
            </a:r>
            <a:r>
              <a:rPr sz="1500" b="1" dirty="0">
                <a:solidFill>
                  <a:srgbClr val="1F2937"/>
                </a:solidFill>
                <a:latin typeface="Yu Gothic"/>
              </a:rPr>
              <a:t>」「</a:t>
            </a:r>
            <a:r>
              <a:rPr sz="1500" b="1" dirty="0" err="1">
                <a:solidFill>
                  <a:srgbClr val="1F2937"/>
                </a:solidFill>
                <a:latin typeface="Yu Gothic"/>
              </a:rPr>
              <a:t>エラーコード</a:t>
            </a:r>
            <a:r>
              <a:rPr sz="1500" b="1" dirty="0">
                <a:solidFill>
                  <a:srgbClr val="1F2937"/>
                </a:solidFill>
                <a:latin typeface="Yu Gothic"/>
              </a:rPr>
              <a:t>○○」</a:t>
            </a:r>
          </a:p>
          <a:p>
            <a:pPr>
              <a:spcAft>
                <a:spcPts val="500"/>
              </a:spcAft>
            </a:pPr>
            <a:r>
              <a:rPr sz="1500" b="1" dirty="0" err="1">
                <a:solidFill>
                  <a:srgbClr val="1F2937"/>
                </a:solidFill>
                <a:latin typeface="Yu Gothic"/>
              </a:rPr>
              <a:t>候補の中に近いものがあれば、その候補を押して内容を確認する</a:t>
            </a:r>
            <a:endParaRPr sz="1500" b="1" dirty="0">
              <a:solidFill>
                <a:srgbClr val="1F2937"/>
              </a:solidFill>
              <a:latin typeface="Yu Gothic"/>
            </a:endParaRPr>
          </a:p>
        </p:txBody>
      </p:sp>
      <p:sp>
        <p:nvSpPr>
          <p:cNvPr id="10" name="Rounded Rectangle 9"/>
          <p:cNvSpPr/>
          <p:nvPr/>
        </p:nvSpPr>
        <p:spPr>
          <a:xfrm>
            <a:off x="731520" y="4412260"/>
            <a:ext cx="5029200" cy="969264"/>
          </a:xfrm>
          <a:prstGeom prst="roundRect">
            <a:avLst/>
          </a:prstGeom>
          <a:solidFill>
            <a:srgbClr val="ECFDF5"/>
          </a:solidFill>
          <a:ln>
            <a:solidFill>
              <a:srgbClr val="22C5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1" name="TextBox 10"/>
          <p:cNvSpPr txBox="1"/>
          <p:nvPr/>
        </p:nvSpPr>
        <p:spPr>
          <a:xfrm>
            <a:off x="896112" y="4521988"/>
            <a:ext cx="4517136" cy="795089"/>
          </a:xfrm>
          <a:prstGeom prst="rect">
            <a:avLst/>
          </a:prstGeom>
          <a:noFill/>
        </p:spPr>
        <p:txBody>
          <a:bodyPr wrap="square">
            <a:spAutoFit/>
          </a:bodyPr>
          <a:lstStyle/>
          <a:p>
            <a:r>
              <a:rPr sz="1600" b="1" dirty="0" err="1">
                <a:solidFill>
                  <a:srgbClr val="1F2937"/>
                </a:solidFill>
                <a:latin typeface="Yu Gothic"/>
              </a:rPr>
              <a:t>よくある考え方</a:t>
            </a:r>
            <a:endParaRPr sz="1600" b="1" dirty="0">
              <a:solidFill>
                <a:srgbClr val="1F2937"/>
              </a:solidFill>
              <a:latin typeface="Yu Gothic"/>
            </a:endParaRPr>
          </a:p>
          <a:p>
            <a:pPr>
              <a:spcBef>
                <a:spcPts val="200"/>
              </a:spcBef>
              <a:spcAft>
                <a:spcPts val="400"/>
              </a:spcAft>
            </a:pPr>
            <a:r>
              <a:rPr sz="1400" b="1" dirty="0" err="1">
                <a:solidFill>
                  <a:srgbClr val="1F2937"/>
                </a:solidFill>
                <a:latin typeface="Yu Gothic"/>
              </a:rPr>
              <a:t>短い単語よりも、困っている内容をそのまま文章で書く方が見つかりやすくなります</a:t>
            </a:r>
            <a:r>
              <a:rPr sz="1400" b="1" dirty="0">
                <a:solidFill>
                  <a:srgbClr val="1F2937"/>
                </a:solidFill>
                <a:latin typeface="Yu Gothic"/>
              </a:rPr>
              <a:t>。</a:t>
            </a:r>
          </a:p>
        </p:txBody>
      </p:sp>
      <p:sp>
        <p:nvSpPr>
          <p:cNvPr id="12" name="Rounded Rectangle 11"/>
          <p:cNvSpPr/>
          <p:nvPr/>
        </p:nvSpPr>
        <p:spPr>
          <a:xfrm>
            <a:off x="6126480" y="1065928"/>
            <a:ext cx="5583438" cy="4877671"/>
          </a:xfrm>
          <a:prstGeom prst="roundRect">
            <a:avLst/>
          </a:prstGeom>
          <a:solidFill>
            <a:srgbClr val="F8FAFC"/>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3" name="Rounded Rectangle 12"/>
          <p:cNvSpPr/>
          <p:nvPr/>
        </p:nvSpPr>
        <p:spPr>
          <a:xfrm>
            <a:off x="6355080" y="1389888"/>
            <a:ext cx="2240280" cy="4069080"/>
          </a:xfrm>
          <a:prstGeom prst="roundRect">
            <a:avLst/>
          </a:prstGeom>
          <a:solidFill>
            <a:srgbClr val="FEF2F2"/>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4" name="TextBox 13"/>
          <p:cNvSpPr txBox="1"/>
          <p:nvPr/>
        </p:nvSpPr>
        <p:spPr>
          <a:xfrm>
            <a:off x="6519672" y="1572768"/>
            <a:ext cx="1773242" cy="353943"/>
          </a:xfrm>
          <a:prstGeom prst="rect">
            <a:avLst/>
          </a:prstGeom>
          <a:noFill/>
        </p:spPr>
        <p:txBody>
          <a:bodyPr wrap="none">
            <a:spAutoFit/>
          </a:bodyPr>
          <a:lstStyle/>
          <a:p>
            <a:r>
              <a:rPr sz="1700" b="1">
                <a:solidFill>
                  <a:srgbClr val="1F2937"/>
                </a:solidFill>
                <a:latin typeface="Yu Gothic"/>
              </a:rPr>
              <a:t>△ 避けたい入力</a:t>
            </a:r>
          </a:p>
        </p:txBody>
      </p:sp>
      <p:sp>
        <p:nvSpPr>
          <p:cNvPr id="15" name="Rounded Rectangle 14"/>
          <p:cNvSpPr/>
          <p:nvPr/>
        </p:nvSpPr>
        <p:spPr>
          <a:xfrm>
            <a:off x="6501384" y="1965960"/>
            <a:ext cx="1938528" cy="658368"/>
          </a:xfrm>
          <a:prstGeom prst="roundRect">
            <a:avLst/>
          </a:prstGeom>
          <a:solidFill>
            <a:srgbClr val="FFFFFF"/>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6" name="TextBox 15"/>
          <p:cNvSpPr txBox="1"/>
          <p:nvPr/>
        </p:nvSpPr>
        <p:spPr>
          <a:xfrm>
            <a:off x="6611112" y="2075688"/>
            <a:ext cx="1737360" cy="284693"/>
          </a:xfrm>
          <a:prstGeom prst="rect">
            <a:avLst/>
          </a:prstGeom>
          <a:noFill/>
        </p:spPr>
        <p:txBody>
          <a:bodyPr wrap="square">
            <a:spAutoFit/>
          </a:bodyPr>
          <a:lstStyle/>
          <a:p>
            <a:r>
              <a:rPr sz="1250" b="1">
                <a:solidFill>
                  <a:srgbClr val="1F2937"/>
                </a:solidFill>
                <a:latin typeface="Yu Gothic"/>
              </a:rPr>
              <a:t>「減った」</a:t>
            </a:r>
          </a:p>
        </p:txBody>
      </p:sp>
      <p:sp>
        <p:nvSpPr>
          <p:cNvPr id="17" name="Rounded Rectangle 16"/>
          <p:cNvSpPr/>
          <p:nvPr/>
        </p:nvSpPr>
        <p:spPr>
          <a:xfrm>
            <a:off x="6501384" y="2971800"/>
            <a:ext cx="1938528" cy="658368"/>
          </a:xfrm>
          <a:prstGeom prst="roundRect">
            <a:avLst/>
          </a:prstGeom>
          <a:solidFill>
            <a:srgbClr val="FFFFFF"/>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8" name="TextBox 17"/>
          <p:cNvSpPr txBox="1"/>
          <p:nvPr/>
        </p:nvSpPr>
        <p:spPr>
          <a:xfrm>
            <a:off x="6611112" y="3081528"/>
            <a:ext cx="1737360" cy="284693"/>
          </a:xfrm>
          <a:prstGeom prst="rect">
            <a:avLst/>
          </a:prstGeom>
          <a:noFill/>
        </p:spPr>
        <p:txBody>
          <a:bodyPr wrap="square">
            <a:spAutoFit/>
          </a:bodyPr>
          <a:lstStyle/>
          <a:p>
            <a:r>
              <a:rPr sz="1250" b="1">
                <a:solidFill>
                  <a:srgbClr val="1F2937"/>
                </a:solidFill>
                <a:latin typeface="Yu Gothic"/>
              </a:rPr>
              <a:t>「申請書」</a:t>
            </a:r>
          </a:p>
        </p:txBody>
      </p:sp>
      <p:sp>
        <p:nvSpPr>
          <p:cNvPr id="19" name="Rounded Rectangle 18"/>
          <p:cNvSpPr/>
          <p:nvPr/>
        </p:nvSpPr>
        <p:spPr>
          <a:xfrm>
            <a:off x="6501384" y="3977639"/>
            <a:ext cx="1938528" cy="658368"/>
          </a:xfrm>
          <a:prstGeom prst="roundRect">
            <a:avLst/>
          </a:prstGeom>
          <a:solidFill>
            <a:srgbClr val="FFFFFF"/>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0" name="TextBox 19"/>
          <p:cNvSpPr txBox="1"/>
          <p:nvPr/>
        </p:nvSpPr>
        <p:spPr>
          <a:xfrm>
            <a:off x="6611112" y="4087368"/>
            <a:ext cx="1737360" cy="284693"/>
          </a:xfrm>
          <a:prstGeom prst="rect">
            <a:avLst/>
          </a:prstGeom>
          <a:noFill/>
        </p:spPr>
        <p:txBody>
          <a:bodyPr wrap="square">
            <a:spAutoFit/>
          </a:bodyPr>
          <a:lstStyle/>
          <a:p>
            <a:r>
              <a:rPr sz="1250" b="1">
                <a:solidFill>
                  <a:srgbClr val="1F2937"/>
                </a:solidFill>
                <a:latin typeface="Yu Gothic"/>
              </a:rPr>
              <a:t>「印刷できない」</a:t>
            </a:r>
          </a:p>
        </p:txBody>
      </p:sp>
      <p:sp>
        <p:nvSpPr>
          <p:cNvPr id="21" name="Rounded Rectangle 20"/>
          <p:cNvSpPr/>
          <p:nvPr/>
        </p:nvSpPr>
        <p:spPr>
          <a:xfrm>
            <a:off x="9052560" y="1389888"/>
            <a:ext cx="2240280" cy="4069080"/>
          </a:xfrm>
          <a:prstGeom prst="roundRect">
            <a:avLst/>
          </a:prstGeom>
          <a:solidFill>
            <a:srgbClr val="F0FDF4"/>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2" name="TextBox 21"/>
          <p:cNvSpPr txBox="1"/>
          <p:nvPr/>
        </p:nvSpPr>
        <p:spPr>
          <a:xfrm>
            <a:off x="9217152" y="1572768"/>
            <a:ext cx="1773242" cy="353943"/>
          </a:xfrm>
          <a:prstGeom prst="rect">
            <a:avLst/>
          </a:prstGeom>
          <a:noFill/>
        </p:spPr>
        <p:txBody>
          <a:bodyPr wrap="none">
            <a:spAutoFit/>
          </a:bodyPr>
          <a:lstStyle/>
          <a:p>
            <a:r>
              <a:rPr sz="1700" b="1">
                <a:solidFill>
                  <a:srgbClr val="1F2937"/>
                </a:solidFill>
                <a:latin typeface="Yu Gothic"/>
              </a:rPr>
              <a:t>◎ おすすめ入力</a:t>
            </a:r>
          </a:p>
        </p:txBody>
      </p:sp>
      <p:sp>
        <p:nvSpPr>
          <p:cNvPr id="23" name="Rounded Rectangle 22"/>
          <p:cNvSpPr/>
          <p:nvPr/>
        </p:nvSpPr>
        <p:spPr>
          <a:xfrm>
            <a:off x="9198864" y="1965960"/>
            <a:ext cx="1938528" cy="658368"/>
          </a:xfrm>
          <a:prstGeom prst="roundRect">
            <a:avLst/>
          </a:prstGeom>
          <a:solidFill>
            <a:srgbClr val="FFFFFF"/>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4" name="TextBox 23"/>
          <p:cNvSpPr txBox="1"/>
          <p:nvPr/>
        </p:nvSpPr>
        <p:spPr>
          <a:xfrm>
            <a:off x="9308592" y="2075688"/>
            <a:ext cx="1737360" cy="477054"/>
          </a:xfrm>
          <a:prstGeom prst="rect">
            <a:avLst/>
          </a:prstGeom>
          <a:noFill/>
        </p:spPr>
        <p:txBody>
          <a:bodyPr wrap="square">
            <a:spAutoFit/>
          </a:bodyPr>
          <a:lstStyle/>
          <a:p>
            <a:r>
              <a:rPr sz="1250" b="1">
                <a:solidFill>
                  <a:srgbClr val="1F2937"/>
                </a:solidFill>
                <a:latin typeface="Yu Gothic"/>
              </a:rPr>
              <a:t>「印刷ジョブが残ったままです」</a:t>
            </a:r>
          </a:p>
        </p:txBody>
      </p:sp>
      <p:sp>
        <p:nvSpPr>
          <p:cNvPr id="25" name="Rounded Rectangle 24"/>
          <p:cNvSpPr/>
          <p:nvPr/>
        </p:nvSpPr>
        <p:spPr>
          <a:xfrm>
            <a:off x="9198864" y="2971800"/>
            <a:ext cx="1938528" cy="658368"/>
          </a:xfrm>
          <a:prstGeom prst="roundRect">
            <a:avLst/>
          </a:prstGeom>
          <a:solidFill>
            <a:srgbClr val="FFFFFF"/>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6" name="TextBox 25"/>
          <p:cNvSpPr txBox="1"/>
          <p:nvPr/>
        </p:nvSpPr>
        <p:spPr>
          <a:xfrm>
            <a:off x="9308592" y="3081528"/>
            <a:ext cx="1737360" cy="669414"/>
          </a:xfrm>
          <a:prstGeom prst="rect">
            <a:avLst/>
          </a:prstGeom>
          <a:noFill/>
        </p:spPr>
        <p:txBody>
          <a:bodyPr wrap="square">
            <a:spAutoFit/>
          </a:bodyPr>
          <a:lstStyle/>
          <a:p>
            <a:r>
              <a:rPr sz="1250" b="1">
                <a:solidFill>
                  <a:srgbClr val="1F2937"/>
                </a:solidFill>
                <a:latin typeface="Yu Gothic"/>
              </a:rPr>
              <a:t>「アプリインストールの申請書はどれですか？」</a:t>
            </a:r>
          </a:p>
        </p:txBody>
      </p:sp>
      <p:sp>
        <p:nvSpPr>
          <p:cNvPr id="27" name="Rounded Rectangle 26"/>
          <p:cNvSpPr/>
          <p:nvPr/>
        </p:nvSpPr>
        <p:spPr>
          <a:xfrm>
            <a:off x="9198864" y="3977639"/>
            <a:ext cx="1938528" cy="658368"/>
          </a:xfrm>
          <a:prstGeom prst="roundRect">
            <a:avLst/>
          </a:prstGeom>
          <a:solidFill>
            <a:srgbClr val="FFFFFF"/>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8" name="TextBox 27"/>
          <p:cNvSpPr txBox="1"/>
          <p:nvPr/>
        </p:nvSpPr>
        <p:spPr>
          <a:xfrm>
            <a:off x="9308592" y="4087368"/>
            <a:ext cx="1737360" cy="477054"/>
          </a:xfrm>
          <a:prstGeom prst="rect">
            <a:avLst/>
          </a:prstGeom>
          <a:noFill/>
        </p:spPr>
        <p:txBody>
          <a:bodyPr wrap="square">
            <a:spAutoFit/>
          </a:bodyPr>
          <a:lstStyle/>
          <a:p>
            <a:r>
              <a:rPr sz="1250" b="1">
                <a:solidFill>
                  <a:srgbClr val="1F2937"/>
                </a:solidFill>
                <a:latin typeface="Yu Gothic"/>
              </a:rPr>
              <a:t>「VPNに接続できません」</a:t>
            </a:r>
          </a:p>
        </p:txBody>
      </p:sp>
      <p:sp>
        <p:nvSpPr>
          <p:cNvPr id="29" name="Rectangle 28"/>
          <p:cNvSpPr/>
          <p:nvPr/>
        </p:nvSpPr>
        <p:spPr>
          <a:xfrm>
            <a:off x="411480" y="6464808"/>
            <a:ext cx="11384280" cy="9144"/>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0" name="TextBox 29"/>
          <p:cNvSpPr txBox="1"/>
          <p:nvPr/>
        </p:nvSpPr>
        <p:spPr>
          <a:xfrm>
            <a:off x="502920" y="6501384"/>
            <a:ext cx="2255746" cy="223138"/>
          </a:xfrm>
          <a:prstGeom prst="rect">
            <a:avLst/>
          </a:prstGeom>
          <a:noFill/>
        </p:spPr>
        <p:txBody>
          <a:bodyPr wrap="none">
            <a:spAutoFit/>
          </a:bodyPr>
          <a:lstStyle/>
          <a:p>
            <a:r>
              <a:rPr sz="850" b="1">
                <a:solidFill>
                  <a:srgbClr val="64748B"/>
                </a:solidFill>
                <a:latin typeface="Yu Gothic"/>
              </a:rPr>
              <a:t>本資料は利用者向けの画面説明資料です。</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8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 name="TextBox 2"/>
          <p:cNvSpPr txBox="1"/>
          <p:nvPr/>
        </p:nvSpPr>
        <p:spPr>
          <a:xfrm>
            <a:off x="502920" y="109728"/>
            <a:ext cx="5186035" cy="492443"/>
          </a:xfrm>
          <a:prstGeom prst="rect">
            <a:avLst/>
          </a:prstGeom>
          <a:noFill/>
        </p:spPr>
        <p:txBody>
          <a:bodyPr wrap="none">
            <a:spAutoFit/>
          </a:bodyPr>
          <a:lstStyle/>
          <a:p>
            <a:r>
              <a:rPr sz="2600" b="1">
                <a:solidFill>
                  <a:srgbClr val="FFFFFF"/>
                </a:solidFill>
                <a:latin typeface="Yu Gothic"/>
              </a:rPr>
              <a:t>参考：管理者向けダッシュボード</a:t>
            </a:r>
          </a:p>
        </p:txBody>
      </p:sp>
      <p:sp>
        <p:nvSpPr>
          <p:cNvPr id="4" name="TextBox 3"/>
          <p:cNvSpPr txBox="1"/>
          <p:nvPr/>
        </p:nvSpPr>
        <p:spPr>
          <a:xfrm>
            <a:off x="530352" y="485380"/>
            <a:ext cx="2752677" cy="238527"/>
          </a:xfrm>
          <a:prstGeom prst="rect">
            <a:avLst/>
          </a:prstGeom>
          <a:noFill/>
        </p:spPr>
        <p:txBody>
          <a:bodyPr wrap="none">
            <a:spAutoFit/>
          </a:bodyPr>
          <a:lstStyle/>
          <a:p>
            <a:r>
              <a:rPr sz="950" b="1" dirty="0" err="1">
                <a:solidFill>
                  <a:srgbClr val="C8D7EB"/>
                </a:solidFill>
                <a:latin typeface="Yu Gothic"/>
              </a:rPr>
              <a:t>情シス問い合わせAI</a:t>
            </a:r>
            <a:r>
              <a:rPr sz="950" b="1" dirty="0">
                <a:solidFill>
                  <a:srgbClr val="C8D7EB"/>
                </a:solidFill>
                <a:latin typeface="Yu Gothic"/>
              </a:rPr>
              <a:t> / </a:t>
            </a:r>
            <a:r>
              <a:rPr sz="950" b="1" dirty="0" err="1">
                <a:solidFill>
                  <a:srgbClr val="C8D7EB"/>
                </a:solidFill>
                <a:latin typeface="Yu Gothic"/>
              </a:rPr>
              <a:t>ユーザー向け操作ガイド</a:t>
            </a:r>
            <a:endParaRPr sz="950" b="1" dirty="0">
              <a:solidFill>
                <a:srgbClr val="C8D7EB"/>
              </a:solidFill>
              <a:latin typeface="Yu Gothic"/>
            </a:endParaRPr>
          </a:p>
        </p:txBody>
      </p:sp>
      <p:sp>
        <p:nvSpPr>
          <p:cNvPr id="5" name="Rounded Rectangle 4"/>
          <p:cNvSpPr/>
          <p:nvPr/>
        </p:nvSpPr>
        <p:spPr>
          <a:xfrm>
            <a:off x="11109960" y="128016"/>
            <a:ext cx="68580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09</a:t>
            </a:r>
          </a:p>
        </p:txBody>
      </p:sp>
      <p:sp>
        <p:nvSpPr>
          <p:cNvPr id="7" name="Rounded Rectangle 6"/>
          <p:cNvSpPr/>
          <p:nvPr/>
        </p:nvSpPr>
        <p:spPr>
          <a:xfrm>
            <a:off x="4480559" y="1097280"/>
            <a:ext cx="7315201" cy="4754880"/>
          </a:xfrm>
          <a:prstGeom prst="roundRect">
            <a:avLst/>
          </a:prstGeom>
          <a:noFill/>
          <a:ln w="15240">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pic>
        <p:nvPicPr>
          <p:cNvPr id="6" name="Picture 5" descr="f95a99e2-a918-579e-8bbc-a20ce03994f9.png"/>
          <p:cNvPicPr>
            <a:picLocks noChangeAspect="1"/>
          </p:cNvPicPr>
          <p:nvPr/>
        </p:nvPicPr>
        <p:blipFill>
          <a:blip r:embed="rId2"/>
          <a:stretch>
            <a:fillRect/>
          </a:stretch>
        </p:blipFill>
        <p:spPr>
          <a:xfrm>
            <a:off x="4663440" y="1640919"/>
            <a:ext cx="6903720" cy="3667601"/>
          </a:xfrm>
          <a:prstGeom prst="rect">
            <a:avLst/>
          </a:prstGeom>
        </p:spPr>
      </p:pic>
      <p:sp>
        <p:nvSpPr>
          <p:cNvPr id="8" name="Rounded Rectangle 7"/>
          <p:cNvSpPr/>
          <p:nvPr/>
        </p:nvSpPr>
        <p:spPr>
          <a:xfrm>
            <a:off x="566928" y="1097280"/>
            <a:ext cx="3749039" cy="4663440"/>
          </a:xfrm>
          <a:prstGeom prst="roundRect">
            <a:avLst/>
          </a:prstGeom>
          <a:solidFill>
            <a:srgbClr val="FAFCFF"/>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9" name="TextBox 8"/>
          <p:cNvSpPr txBox="1"/>
          <p:nvPr/>
        </p:nvSpPr>
        <p:spPr>
          <a:xfrm>
            <a:off x="731520" y="1188720"/>
            <a:ext cx="2492990" cy="369332"/>
          </a:xfrm>
          <a:prstGeom prst="rect">
            <a:avLst/>
          </a:prstGeom>
          <a:noFill/>
        </p:spPr>
        <p:txBody>
          <a:bodyPr wrap="none">
            <a:spAutoFit/>
          </a:bodyPr>
          <a:lstStyle/>
          <a:p>
            <a:r>
              <a:rPr sz="1800" b="1">
                <a:solidFill>
                  <a:srgbClr val="1F2937"/>
                </a:solidFill>
                <a:latin typeface="Yu Gothic"/>
              </a:rPr>
              <a:t>この画面で分かること</a:t>
            </a:r>
          </a:p>
        </p:txBody>
      </p:sp>
      <p:sp>
        <p:nvSpPr>
          <p:cNvPr id="10" name="Rectangle 9"/>
          <p:cNvSpPr/>
          <p:nvPr/>
        </p:nvSpPr>
        <p:spPr>
          <a:xfrm>
            <a:off x="731520" y="1508760"/>
            <a:ext cx="2492990" cy="45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1" name="TextBox 10"/>
          <p:cNvSpPr txBox="1"/>
          <p:nvPr/>
        </p:nvSpPr>
        <p:spPr>
          <a:xfrm>
            <a:off x="731520" y="1627632"/>
            <a:ext cx="3419855" cy="1836400"/>
          </a:xfrm>
          <a:prstGeom prst="rect">
            <a:avLst/>
          </a:prstGeom>
          <a:noFill/>
        </p:spPr>
        <p:txBody>
          <a:bodyPr wrap="square">
            <a:spAutoFit/>
          </a:bodyPr>
          <a:lstStyle/>
          <a:p>
            <a:pPr>
              <a:spcAft>
                <a:spcPts val="500"/>
              </a:spcAft>
            </a:pPr>
            <a:r>
              <a:rPr sz="1500" b="1">
                <a:solidFill>
                  <a:srgbClr val="1F2937"/>
                </a:solidFill>
                <a:latin typeface="Yu Gothic"/>
              </a:rPr>
              <a:t>問い合わせ件数、自動対応率、削減時間などを確認できます。</a:t>
            </a:r>
          </a:p>
          <a:p>
            <a:pPr>
              <a:spcAft>
                <a:spcPts val="500"/>
              </a:spcAft>
            </a:pPr>
            <a:r>
              <a:rPr sz="1500" b="1">
                <a:solidFill>
                  <a:srgbClr val="1F2937"/>
                </a:solidFill>
                <a:latin typeface="Yu Gothic"/>
              </a:rPr>
              <a:t>FAQで自己解決が進んでいるかを、数字で把握できます。</a:t>
            </a:r>
          </a:p>
          <a:p>
            <a:pPr>
              <a:spcAft>
                <a:spcPts val="500"/>
              </a:spcAft>
            </a:pPr>
            <a:r>
              <a:rPr sz="1500" b="1">
                <a:solidFill>
                  <a:srgbClr val="1F2937"/>
                </a:solidFill>
                <a:latin typeface="Yu Gothic"/>
              </a:rPr>
              <a:t>一般ユーザーは通常操作しませんが、運用担当者が効果確認に使用します。</a:t>
            </a:r>
          </a:p>
        </p:txBody>
      </p:sp>
      <p:sp>
        <p:nvSpPr>
          <p:cNvPr id="12" name="Rounded Rectangle 11"/>
          <p:cNvSpPr/>
          <p:nvPr/>
        </p:nvSpPr>
        <p:spPr>
          <a:xfrm>
            <a:off x="658368" y="4670798"/>
            <a:ext cx="3593591" cy="749808"/>
          </a:xfrm>
          <a:prstGeom prst="roundRect">
            <a:avLst/>
          </a:prstGeom>
          <a:solidFill>
            <a:srgbClr val="F1F5F9"/>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3" name="TextBox 12"/>
          <p:cNvSpPr txBox="1"/>
          <p:nvPr/>
        </p:nvSpPr>
        <p:spPr>
          <a:xfrm>
            <a:off x="822959" y="4780526"/>
            <a:ext cx="3328415" cy="579646"/>
          </a:xfrm>
          <a:prstGeom prst="rect">
            <a:avLst/>
          </a:prstGeom>
          <a:noFill/>
        </p:spPr>
        <p:txBody>
          <a:bodyPr wrap="square">
            <a:spAutoFit/>
          </a:bodyPr>
          <a:lstStyle/>
          <a:p>
            <a:r>
              <a:rPr sz="1600" b="1" dirty="0" err="1">
                <a:solidFill>
                  <a:srgbClr val="1F2937"/>
                </a:solidFill>
                <a:latin typeface="Yu Gothic"/>
              </a:rPr>
              <a:t>位置づけ</a:t>
            </a:r>
            <a:endParaRPr sz="1600" b="1" dirty="0">
              <a:solidFill>
                <a:srgbClr val="1F2937"/>
              </a:solidFill>
              <a:latin typeface="Yu Gothic"/>
            </a:endParaRPr>
          </a:p>
          <a:p>
            <a:pPr>
              <a:spcBef>
                <a:spcPts val="200"/>
              </a:spcBef>
              <a:spcAft>
                <a:spcPts val="400"/>
              </a:spcAft>
            </a:pPr>
            <a:r>
              <a:rPr sz="1400" b="1" dirty="0" err="1">
                <a:solidFill>
                  <a:srgbClr val="1F2937"/>
                </a:solidFill>
                <a:latin typeface="Yu Gothic"/>
              </a:rPr>
              <a:t>一般利用者向け資料の参考画面です</a:t>
            </a:r>
            <a:r>
              <a:rPr sz="1400" b="1" dirty="0">
                <a:solidFill>
                  <a:srgbClr val="1F2937"/>
                </a:solidFill>
                <a:latin typeface="Yu Gothic"/>
              </a:rPr>
              <a:t>。</a:t>
            </a:r>
          </a:p>
        </p:txBody>
      </p:sp>
      <p:sp>
        <p:nvSpPr>
          <p:cNvPr id="14" name="Rectangle 13"/>
          <p:cNvSpPr/>
          <p:nvPr/>
        </p:nvSpPr>
        <p:spPr>
          <a:xfrm>
            <a:off x="411480" y="6464808"/>
            <a:ext cx="11384280" cy="9144"/>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5" name="TextBox 14"/>
          <p:cNvSpPr txBox="1"/>
          <p:nvPr/>
        </p:nvSpPr>
        <p:spPr>
          <a:xfrm>
            <a:off x="502920" y="6501384"/>
            <a:ext cx="2255746" cy="223138"/>
          </a:xfrm>
          <a:prstGeom prst="rect">
            <a:avLst/>
          </a:prstGeom>
          <a:noFill/>
        </p:spPr>
        <p:txBody>
          <a:bodyPr wrap="none">
            <a:spAutoFit/>
          </a:bodyPr>
          <a:lstStyle/>
          <a:p>
            <a:r>
              <a:rPr sz="850" b="1">
                <a:solidFill>
                  <a:srgbClr val="64748B"/>
                </a:solidFill>
                <a:latin typeface="Yu Gothic"/>
              </a:rPr>
              <a:t>本資料は利用者向けの画面説明資料です。</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731520"/>
          </a:xfrm>
          <a:prstGeom prst="rect">
            <a:avLst/>
          </a:prstGeom>
          <a:solidFill>
            <a:srgbClr val="0815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3" name="TextBox 2"/>
          <p:cNvSpPr txBox="1"/>
          <p:nvPr/>
        </p:nvSpPr>
        <p:spPr>
          <a:xfrm>
            <a:off x="502920" y="109728"/>
            <a:ext cx="1184940" cy="492443"/>
          </a:xfrm>
          <a:prstGeom prst="rect">
            <a:avLst/>
          </a:prstGeom>
          <a:noFill/>
        </p:spPr>
        <p:txBody>
          <a:bodyPr wrap="none">
            <a:spAutoFit/>
          </a:bodyPr>
          <a:lstStyle/>
          <a:p>
            <a:r>
              <a:rPr sz="2600" b="1">
                <a:solidFill>
                  <a:srgbClr val="FFFFFF"/>
                </a:solidFill>
                <a:latin typeface="Yu Gothic"/>
              </a:rPr>
              <a:t>まとめ</a:t>
            </a:r>
          </a:p>
        </p:txBody>
      </p:sp>
      <p:sp>
        <p:nvSpPr>
          <p:cNvPr id="4" name="TextBox 3"/>
          <p:cNvSpPr txBox="1"/>
          <p:nvPr/>
        </p:nvSpPr>
        <p:spPr>
          <a:xfrm>
            <a:off x="530352" y="476049"/>
            <a:ext cx="2752677" cy="238527"/>
          </a:xfrm>
          <a:prstGeom prst="rect">
            <a:avLst/>
          </a:prstGeom>
          <a:noFill/>
        </p:spPr>
        <p:txBody>
          <a:bodyPr wrap="none">
            <a:spAutoFit/>
          </a:bodyPr>
          <a:lstStyle/>
          <a:p>
            <a:r>
              <a:rPr sz="950" b="1" dirty="0" err="1">
                <a:solidFill>
                  <a:srgbClr val="C8D7EB"/>
                </a:solidFill>
                <a:latin typeface="Yu Gothic"/>
              </a:rPr>
              <a:t>情シス問い合わせAI</a:t>
            </a:r>
            <a:r>
              <a:rPr sz="950" b="1" dirty="0">
                <a:solidFill>
                  <a:srgbClr val="C8D7EB"/>
                </a:solidFill>
                <a:latin typeface="Yu Gothic"/>
              </a:rPr>
              <a:t> / </a:t>
            </a:r>
            <a:r>
              <a:rPr sz="950" b="1" dirty="0" err="1">
                <a:solidFill>
                  <a:srgbClr val="C8D7EB"/>
                </a:solidFill>
                <a:latin typeface="Yu Gothic"/>
              </a:rPr>
              <a:t>ユーザー向け操作ガイド</a:t>
            </a:r>
            <a:endParaRPr sz="950" b="1" dirty="0">
              <a:solidFill>
                <a:srgbClr val="C8D7EB"/>
              </a:solidFill>
              <a:latin typeface="Yu Gothic"/>
            </a:endParaRPr>
          </a:p>
        </p:txBody>
      </p:sp>
      <p:sp>
        <p:nvSpPr>
          <p:cNvPr id="5" name="Rounded Rectangle 4"/>
          <p:cNvSpPr/>
          <p:nvPr/>
        </p:nvSpPr>
        <p:spPr>
          <a:xfrm>
            <a:off x="11109960" y="128016"/>
            <a:ext cx="685800" cy="384048"/>
          </a:xfrm>
          <a:prstGeom prst="round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Arial"/>
              </a:rPr>
              <a:t>10</a:t>
            </a:r>
          </a:p>
        </p:txBody>
      </p:sp>
      <p:sp>
        <p:nvSpPr>
          <p:cNvPr id="6" name="Rounded Rectangle 5"/>
          <p:cNvSpPr/>
          <p:nvPr/>
        </p:nvSpPr>
        <p:spPr>
          <a:xfrm>
            <a:off x="731520" y="1508760"/>
            <a:ext cx="2971800" cy="2194560"/>
          </a:xfrm>
          <a:prstGeom prst="roundRect">
            <a:avLst/>
          </a:prstGeom>
          <a:solidFill>
            <a:srgbClr val="FAFCFF"/>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7" name="Rectangle 6"/>
          <p:cNvSpPr/>
          <p:nvPr/>
        </p:nvSpPr>
        <p:spPr>
          <a:xfrm>
            <a:off x="731520" y="1508760"/>
            <a:ext cx="2971800" cy="14630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8" name="TextBox 7"/>
          <p:cNvSpPr txBox="1"/>
          <p:nvPr/>
        </p:nvSpPr>
        <p:spPr>
          <a:xfrm>
            <a:off x="896112" y="1828800"/>
            <a:ext cx="1928733" cy="353943"/>
          </a:xfrm>
          <a:prstGeom prst="rect">
            <a:avLst/>
          </a:prstGeom>
          <a:noFill/>
        </p:spPr>
        <p:txBody>
          <a:bodyPr wrap="none">
            <a:spAutoFit/>
          </a:bodyPr>
          <a:lstStyle/>
          <a:p>
            <a:r>
              <a:rPr sz="1700" b="1">
                <a:solidFill>
                  <a:srgbClr val="1F2937"/>
                </a:solidFill>
                <a:latin typeface="Yu Gothic"/>
              </a:rPr>
              <a:t>具体的に入力する</a:t>
            </a:r>
          </a:p>
        </p:txBody>
      </p:sp>
      <p:sp>
        <p:nvSpPr>
          <p:cNvPr id="9" name="TextBox 8"/>
          <p:cNvSpPr txBox="1"/>
          <p:nvPr/>
        </p:nvSpPr>
        <p:spPr>
          <a:xfrm>
            <a:off x="896112" y="2331720"/>
            <a:ext cx="2606040" cy="523220"/>
          </a:xfrm>
          <a:prstGeom prst="rect">
            <a:avLst/>
          </a:prstGeom>
          <a:noFill/>
        </p:spPr>
        <p:txBody>
          <a:bodyPr wrap="square">
            <a:spAutoFit/>
          </a:bodyPr>
          <a:lstStyle/>
          <a:p>
            <a:r>
              <a:rPr sz="1400" b="1">
                <a:solidFill>
                  <a:srgbClr val="64748B"/>
                </a:solidFill>
                <a:latin typeface="Yu Gothic"/>
              </a:rPr>
              <a:t>対象・症状・状況を入れると、検索精度が上がります。</a:t>
            </a:r>
          </a:p>
        </p:txBody>
      </p:sp>
      <p:sp>
        <p:nvSpPr>
          <p:cNvPr id="10" name="Rounded Rectangle 9"/>
          <p:cNvSpPr/>
          <p:nvPr/>
        </p:nvSpPr>
        <p:spPr>
          <a:xfrm>
            <a:off x="3916680" y="1508760"/>
            <a:ext cx="3300982" cy="2194560"/>
          </a:xfrm>
          <a:prstGeom prst="roundRect">
            <a:avLst/>
          </a:prstGeom>
          <a:solidFill>
            <a:srgbClr val="FAFCFF"/>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1" name="Rectangle 10"/>
          <p:cNvSpPr/>
          <p:nvPr/>
        </p:nvSpPr>
        <p:spPr>
          <a:xfrm>
            <a:off x="3916680" y="1508760"/>
            <a:ext cx="3300982" cy="146304"/>
          </a:xfrm>
          <a:prstGeom prst="rect">
            <a:avLst/>
          </a:prstGeom>
          <a:solidFill>
            <a:srgbClr val="14B8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2" name="TextBox 11"/>
          <p:cNvSpPr txBox="1"/>
          <p:nvPr/>
        </p:nvSpPr>
        <p:spPr>
          <a:xfrm>
            <a:off x="4081272" y="1828800"/>
            <a:ext cx="3236784" cy="353943"/>
          </a:xfrm>
          <a:prstGeom prst="rect">
            <a:avLst/>
          </a:prstGeom>
          <a:noFill/>
        </p:spPr>
        <p:txBody>
          <a:bodyPr wrap="none">
            <a:spAutoFit/>
          </a:bodyPr>
          <a:lstStyle/>
          <a:p>
            <a:r>
              <a:rPr sz="1700" b="1" dirty="0" err="1">
                <a:solidFill>
                  <a:srgbClr val="1F2937"/>
                </a:solidFill>
                <a:latin typeface="Yu Gothic"/>
              </a:rPr>
              <a:t>一致度が高いときは回答を確認</a:t>
            </a:r>
            <a:endParaRPr sz="1700" b="1" dirty="0">
              <a:solidFill>
                <a:srgbClr val="1F2937"/>
              </a:solidFill>
              <a:latin typeface="Yu Gothic"/>
            </a:endParaRPr>
          </a:p>
        </p:txBody>
      </p:sp>
      <p:sp>
        <p:nvSpPr>
          <p:cNvPr id="13" name="TextBox 12"/>
          <p:cNvSpPr txBox="1"/>
          <p:nvPr/>
        </p:nvSpPr>
        <p:spPr>
          <a:xfrm>
            <a:off x="4233672" y="2331720"/>
            <a:ext cx="2606040" cy="523220"/>
          </a:xfrm>
          <a:prstGeom prst="rect">
            <a:avLst/>
          </a:prstGeom>
          <a:noFill/>
        </p:spPr>
        <p:txBody>
          <a:bodyPr wrap="square">
            <a:spAutoFit/>
          </a:bodyPr>
          <a:lstStyle/>
          <a:p>
            <a:r>
              <a:rPr sz="1400" b="1">
                <a:solidFill>
                  <a:srgbClr val="64748B"/>
                </a:solidFill>
                <a:latin typeface="Yu Gothic"/>
              </a:rPr>
              <a:t>必要に応じて「回答の根拠を見る」も確認できます。</a:t>
            </a:r>
          </a:p>
        </p:txBody>
      </p:sp>
      <p:sp>
        <p:nvSpPr>
          <p:cNvPr id="14" name="Rounded Rectangle 13"/>
          <p:cNvSpPr/>
          <p:nvPr/>
        </p:nvSpPr>
        <p:spPr>
          <a:xfrm>
            <a:off x="7406639" y="1508760"/>
            <a:ext cx="3370217" cy="2194560"/>
          </a:xfrm>
          <a:prstGeom prst="roundRect">
            <a:avLst/>
          </a:prstGeom>
          <a:solidFill>
            <a:srgbClr val="FAFCFF"/>
          </a:solidFill>
          <a:ln>
            <a:solidFill>
              <a:srgbClr val="E6ECF5"/>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5" name="Rectangle 14"/>
          <p:cNvSpPr/>
          <p:nvPr/>
        </p:nvSpPr>
        <p:spPr>
          <a:xfrm>
            <a:off x="7406640" y="1508760"/>
            <a:ext cx="3370216" cy="14630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6" name="TextBox 15"/>
          <p:cNvSpPr txBox="1"/>
          <p:nvPr/>
        </p:nvSpPr>
        <p:spPr>
          <a:xfrm>
            <a:off x="7571231" y="1828800"/>
            <a:ext cx="3236784" cy="353943"/>
          </a:xfrm>
          <a:prstGeom prst="rect">
            <a:avLst/>
          </a:prstGeom>
          <a:noFill/>
        </p:spPr>
        <p:txBody>
          <a:bodyPr wrap="none">
            <a:spAutoFit/>
          </a:bodyPr>
          <a:lstStyle/>
          <a:p>
            <a:r>
              <a:rPr sz="1700" b="1">
                <a:solidFill>
                  <a:srgbClr val="1F2937"/>
                </a:solidFill>
                <a:latin typeface="Yu Gothic"/>
              </a:rPr>
              <a:t>一致度が低いときは候補を選ぶ</a:t>
            </a:r>
          </a:p>
        </p:txBody>
      </p:sp>
      <p:sp>
        <p:nvSpPr>
          <p:cNvPr id="17" name="TextBox 16"/>
          <p:cNvSpPr txBox="1"/>
          <p:nvPr/>
        </p:nvSpPr>
        <p:spPr>
          <a:xfrm>
            <a:off x="7571231" y="2331720"/>
            <a:ext cx="2606040" cy="523220"/>
          </a:xfrm>
          <a:prstGeom prst="rect">
            <a:avLst/>
          </a:prstGeom>
          <a:noFill/>
        </p:spPr>
        <p:txBody>
          <a:bodyPr wrap="square">
            <a:spAutoFit/>
          </a:bodyPr>
          <a:lstStyle/>
          <a:p>
            <a:r>
              <a:rPr sz="1400" b="1" dirty="0" err="1">
                <a:solidFill>
                  <a:srgbClr val="64748B"/>
                </a:solidFill>
                <a:latin typeface="Yu Gothic"/>
              </a:rPr>
              <a:t>近い候補を押すか、より具体的に再入力します</a:t>
            </a:r>
            <a:r>
              <a:rPr sz="1400" b="1" dirty="0">
                <a:solidFill>
                  <a:srgbClr val="64748B"/>
                </a:solidFill>
                <a:latin typeface="Yu Gothic"/>
              </a:rPr>
              <a:t>。</a:t>
            </a:r>
          </a:p>
        </p:txBody>
      </p:sp>
      <p:sp>
        <p:nvSpPr>
          <p:cNvPr id="18" name="Rounded Rectangle 17"/>
          <p:cNvSpPr/>
          <p:nvPr/>
        </p:nvSpPr>
        <p:spPr>
          <a:xfrm>
            <a:off x="868680" y="4069080"/>
            <a:ext cx="10241280" cy="1005840"/>
          </a:xfrm>
          <a:prstGeom prst="roundRect">
            <a:avLst/>
          </a:prstGeom>
          <a:solidFill>
            <a:srgbClr val="EFF6FF"/>
          </a:solidFill>
          <a:ln>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19" name="TextBox 18"/>
          <p:cNvSpPr txBox="1"/>
          <p:nvPr/>
        </p:nvSpPr>
        <p:spPr>
          <a:xfrm>
            <a:off x="1033272" y="4178808"/>
            <a:ext cx="9912096" cy="579646"/>
          </a:xfrm>
          <a:prstGeom prst="rect">
            <a:avLst/>
          </a:prstGeom>
          <a:noFill/>
        </p:spPr>
        <p:txBody>
          <a:bodyPr wrap="square">
            <a:spAutoFit/>
          </a:bodyPr>
          <a:lstStyle/>
          <a:p>
            <a:r>
              <a:rPr sz="1600" b="1" dirty="0" err="1">
                <a:solidFill>
                  <a:srgbClr val="1F2937"/>
                </a:solidFill>
                <a:latin typeface="Yu Gothic"/>
              </a:rPr>
              <a:t>この資料の使い方</a:t>
            </a:r>
            <a:endParaRPr sz="1600" b="1" dirty="0">
              <a:solidFill>
                <a:srgbClr val="1F2937"/>
              </a:solidFill>
              <a:latin typeface="Yu Gothic"/>
            </a:endParaRPr>
          </a:p>
          <a:p>
            <a:pPr>
              <a:spcBef>
                <a:spcPts val="200"/>
              </a:spcBef>
              <a:spcAft>
                <a:spcPts val="400"/>
              </a:spcAft>
            </a:pPr>
            <a:r>
              <a:rPr sz="1400" b="1" dirty="0" err="1">
                <a:solidFill>
                  <a:srgbClr val="1F2937"/>
                </a:solidFill>
                <a:latin typeface="Yu Gothic"/>
              </a:rPr>
              <a:t>初めて使う人は「初期画面</a:t>
            </a:r>
            <a:r>
              <a:rPr sz="1400" b="1" dirty="0">
                <a:solidFill>
                  <a:srgbClr val="1F2937"/>
                </a:solidFill>
                <a:latin typeface="Yu Gothic"/>
              </a:rPr>
              <a:t> → </a:t>
            </a:r>
            <a:r>
              <a:rPr sz="1400" b="1" dirty="0" err="1">
                <a:solidFill>
                  <a:srgbClr val="1F2937"/>
                </a:solidFill>
                <a:latin typeface="Yu Gothic"/>
              </a:rPr>
              <a:t>質問のコツ</a:t>
            </a:r>
            <a:r>
              <a:rPr sz="1400" b="1" dirty="0">
                <a:solidFill>
                  <a:srgbClr val="1F2937"/>
                </a:solidFill>
                <a:latin typeface="Yu Gothic"/>
              </a:rPr>
              <a:t> → </a:t>
            </a:r>
            <a:r>
              <a:rPr sz="1400" b="1" dirty="0" err="1">
                <a:solidFill>
                  <a:srgbClr val="1F2937"/>
                </a:solidFill>
                <a:latin typeface="Yu Gothic"/>
              </a:rPr>
              <a:t>回答確認</a:t>
            </a:r>
            <a:r>
              <a:rPr sz="1400" b="1" dirty="0">
                <a:solidFill>
                  <a:srgbClr val="1F2937"/>
                </a:solidFill>
                <a:latin typeface="Yu Gothic"/>
              </a:rPr>
              <a:t> → </a:t>
            </a:r>
            <a:r>
              <a:rPr sz="1400" b="1" dirty="0" err="1">
                <a:solidFill>
                  <a:srgbClr val="1F2937"/>
                </a:solidFill>
                <a:latin typeface="Yu Gothic"/>
              </a:rPr>
              <a:t>候補選択」の順で読むと分かりやすくなります</a:t>
            </a:r>
            <a:r>
              <a:rPr sz="1400" b="1" dirty="0">
                <a:solidFill>
                  <a:srgbClr val="1F2937"/>
                </a:solidFill>
                <a:latin typeface="Yu Gothic"/>
              </a:rPr>
              <a:t>。</a:t>
            </a:r>
          </a:p>
        </p:txBody>
      </p:sp>
      <p:sp>
        <p:nvSpPr>
          <p:cNvPr id="21" name="Rectangle 20"/>
          <p:cNvSpPr/>
          <p:nvPr/>
        </p:nvSpPr>
        <p:spPr>
          <a:xfrm>
            <a:off x="411480" y="6464808"/>
            <a:ext cx="11384280" cy="9144"/>
          </a:xfrm>
          <a:prstGeom prst="rect">
            <a:avLst/>
          </a:prstGeom>
          <a:solidFill>
            <a:srgbClr val="E6EC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b="1"/>
          </a:p>
        </p:txBody>
      </p:sp>
      <p:sp>
        <p:nvSpPr>
          <p:cNvPr id="22" name="TextBox 21"/>
          <p:cNvSpPr txBox="1"/>
          <p:nvPr/>
        </p:nvSpPr>
        <p:spPr>
          <a:xfrm>
            <a:off x="502920" y="6501384"/>
            <a:ext cx="3573414" cy="223138"/>
          </a:xfrm>
          <a:prstGeom prst="rect">
            <a:avLst/>
          </a:prstGeom>
          <a:noFill/>
        </p:spPr>
        <p:txBody>
          <a:bodyPr wrap="none">
            <a:spAutoFit/>
          </a:bodyPr>
          <a:lstStyle/>
          <a:p>
            <a:r>
              <a:rPr sz="850" b="1">
                <a:solidFill>
                  <a:srgbClr val="64748B"/>
                </a:solidFill>
                <a:latin typeface="Yu Gothic"/>
              </a:rPr>
              <a:t>PowerPoint / PDF ともに、利用者向けの説明文に統一しています。</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27</TotalTime>
  <Words>469</Words>
  <Application>Microsoft Office PowerPoint</Application>
  <PresentationFormat>ワイド画面</PresentationFormat>
  <Paragraphs>145</Paragraphs>
  <Slides>10</Slides>
  <Notes>0</Notes>
  <HiddenSlides>0</HiddenSlides>
  <MMClips>0</MMClips>
  <ScaleCrop>false</ScaleCrop>
  <HeadingPairs>
    <vt:vector size="6" baseType="variant">
      <vt:variant>
        <vt:lpstr>使用されているフォント</vt:lpstr>
      </vt:variant>
      <vt:variant>
        <vt:i4>3</vt:i4>
      </vt:variant>
      <vt:variant>
        <vt:lpstr>テーマ</vt:lpstr>
      </vt:variant>
      <vt:variant>
        <vt:i4>1</vt:i4>
      </vt:variant>
      <vt:variant>
        <vt:lpstr>スライド タイトル</vt:lpstr>
      </vt:variant>
      <vt:variant>
        <vt:i4>10</vt:i4>
      </vt:variant>
    </vt:vector>
  </HeadingPairs>
  <TitlesOfParts>
    <vt:vector size="14" baseType="lpstr">
      <vt:lpstr>Yu Gothic</vt:lpstr>
      <vt:lpstr>Arial</vt:lpstr>
      <vt:lpstr>Calibri</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subject/>
  <dc:creator/>
  <cp:keywords/>
  <dc:description>generated using python-pptx</dc:description>
  <cp:lastModifiedBy>shinojima</cp:lastModifiedBy>
  <cp:revision>14</cp:revision>
  <dcterms:created xsi:type="dcterms:W3CDTF">2013-01-27T09:14:16Z</dcterms:created>
  <dcterms:modified xsi:type="dcterms:W3CDTF">2026-05-04T01:28:35Z</dcterms:modified>
  <cp:category/>
</cp:coreProperties>
</file>